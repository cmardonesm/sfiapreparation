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58"/>
  </p:notesMasterIdLst>
  <p:sldIdLst>
    <p:sldId id="327" r:id="rId2"/>
    <p:sldId id="393" r:id="rId3"/>
    <p:sldId id="446" r:id="rId4"/>
    <p:sldId id="258" r:id="rId5"/>
    <p:sldId id="394" r:id="rId6"/>
    <p:sldId id="395" r:id="rId7"/>
    <p:sldId id="396" r:id="rId8"/>
    <p:sldId id="397" r:id="rId9"/>
    <p:sldId id="398" r:id="rId10"/>
    <p:sldId id="399" r:id="rId11"/>
    <p:sldId id="400" r:id="rId12"/>
    <p:sldId id="401" r:id="rId13"/>
    <p:sldId id="402" r:id="rId14"/>
    <p:sldId id="403" r:id="rId15"/>
    <p:sldId id="404" r:id="rId16"/>
    <p:sldId id="405" r:id="rId17"/>
    <p:sldId id="406" r:id="rId18"/>
    <p:sldId id="407" r:id="rId19"/>
    <p:sldId id="408" r:id="rId20"/>
    <p:sldId id="409" r:id="rId21"/>
    <p:sldId id="410" r:id="rId22"/>
    <p:sldId id="411" r:id="rId23"/>
    <p:sldId id="412" r:id="rId24"/>
    <p:sldId id="413" r:id="rId25"/>
    <p:sldId id="414" r:id="rId26"/>
    <p:sldId id="415" r:id="rId27"/>
    <p:sldId id="416" r:id="rId28"/>
    <p:sldId id="417" r:id="rId29"/>
    <p:sldId id="418" r:id="rId30"/>
    <p:sldId id="419" r:id="rId31"/>
    <p:sldId id="420" r:id="rId32"/>
    <p:sldId id="421" r:id="rId33"/>
    <p:sldId id="422" r:id="rId34"/>
    <p:sldId id="445" r:id="rId35"/>
    <p:sldId id="423" r:id="rId36"/>
    <p:sldId id="424"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437" r:id="rId50"/>
    <p:sldId id="438" r:id="rId51"/>
    <p:sldId id="439" r:id="rId52"/>
    <p:sldId id="440" r:id="rId53"/>
    <p:sldId id="441" r:id="rId54"/>
    <p:sldId id="442" r:id="rId55"/>
    <p:sldId id="443" r:id="rId56"/>
    <p:sldId id="444" r:id="rId57"/>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88" autoAdjust="0"/>
    <p:restoredTop sz="81150" autoAdjust="0"/>
  </p:normalViewPr>
  <p:slideViewPr>
    <p:cSldViewPr>
      <p:cViewPr varScale="1">
        <p:scale>
          <a:sx n="57" d="100"/>
          <a:sy n="57" d="100"/>
        </p:scale>
        <p:origin x="1734"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L"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31F746-0070-4FC6-A14B-1246EAB313E3}" type="datetimeFigureOut">
              <a:rPr lang="es-CL" smtClean="0"/>
              <a:pPr/>
              <a:t>29-10-2017</a:t>
            </a:fld>
            <a:endParaRPr lang="es-CL"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L"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59BAC6-CDD1-495F-B578-B1B655A186A6}" type="slidenum">
              <a:rPr lang="es-CL" smtClean="0"/>
              <a:pPr/>
              <a:t>‹Nº›</a:t>
            </a:fld>
            <a:endParaRPr lang="es-CL" dirty="0"/>
          </a:p>
        </p:txBody>
      </p:sp>
    </p:spTree>
    <p:extLst>
      <p:ext uri="{BB962C8B-B14F-4D97-AF65-F5344CB8AC3E}">
        <p14:creationId xmlns:p14="http://schemas.microsoft.com/office/powerpoint/2010/main" val="2999726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a:t>
            </a:fld>
            <a:endParaRPr lang="es-CL" dirty="0"/>
          </a:p>
        </p:txBody>
      </p:sp>
    </p:spTree>
    <p:extLst>
      <p:ext uri="{BB962C8B-B14F-4D97-AF65-F5344CB8AC3E}">
        <p14:creationId xmlns:p14="http://schemas.microsoft.com/office/powerpoint/2010/main" val="2995404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a:t>
            </a:fld>
            <a:endParaRPr lang="es-CL" dirty="0"/>
          </a:p>
        </p:txBody>
      </p:sp>
    </p:spTree>
    <p:extLst>
      <p:ext uri="{BB962C8B-B14F-4D97-AF65-F5344CB8AC3E}">
        <p14:creationId xmlns:p14="http://schemas.microsoft.com/office/powerpoint/2010/main" val="1629625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6</a:t>
            </a:fld>
            <a:endParaRPr lang="es-CL" dirty="0"/>
          </a:p>
        </p:txBody>
      </p:sp>
    </p:spTree>
    <p:extLst>
      <p:ext uri="{BB962C8B-B14F-4D97-AF65-F5344CB8AC3E}">
        <p14:creationId xmlns:p14="http://schemas.microsoft.com/office/powerpoint/2010/main" val="355095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7</a:t>
            </a:fld>
            <a:endParaRPr lang="es-CL" dirty="0"/>
          </a:p>
        </p:txBody>
      </p:sp>
    </p:spTree>
    <p:extLst>
      <p:ext uri="{BB962C8B-B14F-4D97-AF65-F5344CB8AC3E}">
        <p14:creationId xmlns:p14="http://schemas.microsoft.com/office/powerpoint/2010/main" val="3660777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8</a:t>
            </a:fld>
            <a:endParaRPr lang="es-CL" dirty="0"/>
          </a:p>
        </p:txBody>
      </p:sp>
    </p:spTree>
    <p:extLst>
      <p:ext uri="{BB962C8B-B14F-4D97-AF65-F5344CB8AC3E}">
        <p14:creationId xmlns:p14="http://schemas.microsoft.com/office/powerpoint/2010/main" val="3851445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9</a:t>
            </a:fld>
            <a:endParaRPr lang="es-CL" dirty="0"/>
          </a:p>
        </p:txBody>
      </p:sp>
    </p:spTree>
    <p:extLst>
      <p:ext uri="{BB962C8B-B14F-4D97-AF65-F5344CB8AC3E}">
        <p14:creationId xmlns:p14="http://schemas.microsoft.com/office/powerpoint/2010/main" val="72389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10</a:t>
            </a:fld>
            <a:endParaRPr lang="es-CL" dirty="0"/>
          </a:p>
        </p:txBody>
      </p:sp>
    </p:spTree>
    <p:extLst>
      <p:ext uri="{BB962C8B-B14F-4D97-AF65-F5344CB8AC3E}">
        <p14:creationId xmlns:p14="http://schemas.microsoft.com/office/powerpoint/2010/main" val="2626260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11</a:t>
            </a:fld>
            <a:endParaRPr lang="es-CL" dirty="0"/>
          </a:p>
        </p:txBody>
      </p:sp>
    </p:spTree>
    <p:extLst>
      <p:ext uri="{BB962C8B-B14F-4D97-AF65-F5344CB8AC3E}">
        <p14:creationId xmlns:p14="http://schemas.microsoft.com/office/powerpoint/2010/main" val="3407020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12</a:t>
            </a:fld>
            <a:endParaRPr lang="es-CL" dirty="0"/>
          </a:p>
        </p:txBody>
      </p:sp>
    </p:spTree>
    <p:extLst>
      <p:ext uri="{BB962C8B-B14F-4D97-AF65-F5344CB8AC3E}">
        <p14:creationId xmlns:p14="http://schemas.microsoft.com/office/powerpoint/2010/main" val="1610330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13</a:t>
            </a:fld>
            <a:endParaRPr lang="es-CL" dirty="0"/>
          </a:p>
        </p:txBody>
      </p:sp>
    </p:spTree>
    <p:extLst>
      <p:ext uri="{BB962C8B-B14F-4D97-AF65-F5344CB8AC3E}">
        <p14:creationId xmlns:p14="http://schemas.microsoft.com/office/powerpoint/2010/main" val="2871055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14</a:t>
            </a:fld>
            <a:endParaRPr lang="es-CL" dirty="0"/>
          </a:p>
        </p:txBody>
      </p:sp>
    </p:spTree>
    <p:extLst>
      <p:ext uri="{BB962C8B-B14F-4D97-AF65-F5344CB8AC3E}">
        <p14:creationId xmlns:p14="http://schemas.microsoft.com/office/powerpoint/2010/main" val="395012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15</a:t>
            </a:fld>
            <a:endParaRPr lang="es-CL" dirty="0"/>
          </a:p>
        </p:txBody>
      </p:sp>
    </p:spTree>
    <p:extLst>
      <p:ext uri="{BB962C8B-B14F-4D97-AF65-F5344CB8AC3E}">
        <p14:creationId xmlns:p14="http://schemas.microsoft.com/office/powerpoint/2010/main" val="269738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16</a:t>
            </a:fld>
            <a:endParaRPr lang="es-CL" dirty="0"/>
          </a:p>
        </p:txBody>
      </p:sp>
    </p:spTree>
    <p:extLst>
      <p:ext uri="{BB962C8B-B14F-4D97-AF65-F5344CB8AC3E}">
        <p14:creationId xmlns:p14="http://schemas.microsoft.com/office/powerpoint/2010/main" val="2769724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17</a:t>
            </a:fld>
            <a:endParaRPr lang="es-CL" dirty="0"/>
          </a:p>
        </p:txBody>
      </p:sp>
    </p:spTree>
    <p:extLst>
      <p:ext uri="{BB962C8B-B14F-4D97-AF65-F5344CB8AC3E}">
        <p14:creationId xmlns:p14="http://schemas.microsoft.com/office/powerpoint/2010/main" val="2231947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18</a:t>
            </a:fld>
            <a:endParaRPr lang="es-CL" dirty="0"/>
          </a:p>
        </p:txBody>
      </p:sp>
    </p:spTree>
    <p:extLst>
      <p:ext uri="{BB962C8B-B14F-4D97-AF65-F5344CB8AC3E}">
        <p14:creationId xmlns:p14="http://schemas.microsoft.com/office/powerpoint/2010/main" val="719220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19</a:t>
            </a:fld>
            <a:endParaRPr lang="es-CL" dirty="0"/>
          </a:p>
        </p:txBody>
      </p:sp>
    </p:spTree>
    <p:extLst>
      <p:ext uri="{BB962C8B-B14F-4D97-AF65-F5344CB8AC3E}">
        <p14:creationId xmlns:p14="http://schemas.microsoft.com/office/powerpoint/2010/main" val="851915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20</a:t>
            </a:fld>
            <a:endParaRPr lang="es-CL" dirty="0"/>
          </a:p>
        </p:txBody>
      </p:sp>
    </p:spTree>
    <p:extLst>
      <p:ext uri="{BB962C8B-B14F-4D97-AF65-F5344CB8AC3E}">
        <p14:creationId xmlns:p14="http://schemas.microsoft.com/office/powerpoint/2010/main" val="3836826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21</a:t>
            </a:fld>
            <a:endParaRPr lang="es-CL" dirty="0"/>
          </a:p>
        </p:txBody>
      </p:sp>
    </p:spTree>
    <p:extLst>
      <p:ext uri="{BB962C8B-B14F-4D97-AF65-F5344CB8AC3E}">
        <p14:creationId xmlns:p14="http://schemas.microsoft.com/office/powerpoint/2010/main" val="2872660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22</a:t>
            </a:fld>
            <a:endParaRPr lang="es-CL" dirty="0"/>
          </a:p>
        </p:txBody>
      </p:sp>
    </p:spTree>
    <p:extLst>
      <p:ext uri="{BB962C8B-B14F-4D97-AF65-F5344CB8AC3E}">
        <p14:creationId xmlns:p14="http://schemas.microsoft.com/office/powerpoint/2010/main" val="953953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23</a:t>
            </a:fld>
            <a:endParaRPr lang="es-CL" dirty="0"/>
          </a:p>
        </p:txBody>
      </p:sp>
    </p:spTree>
    <p:extLst>
      <p:ext uri="{BB962C8B-B14F-4D97-AF65-F5344CB8AC3E}">
        <p14:creationId xmlns:p14="http://schemas.microsoft.com/office/powerpoint/2010/main" val="1292018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24</a:t>
            </a:fld>
            <a:endParaRPr lang="es-CL" dirty="0"/>
          </a:p>
        </p:txBody>
      </p:sp>
    </p:spTree>
    <p:extLst>
      <p:ext uri="{BB962C8B-B14F-4D97-AF65-F5344CB8AC3E}">
        <p14:creationId xmlns:p14="http://schemas.microsoft.com/office/powerpoint/2010/main" val="3685287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25</a:t>
            </a:fld>
            <a:endParaRPr lang="es-CL" dirty="0"/>
          </a:p>
        </p:txBody>
      </p:sp>
    </p:spTree>
    <p:extLst>
      <p:ext uri="{BB962C8B-B14F-4D97-AF65-F5344CB8AC3E}">
        <p14:creationId xmlns:p14="http://schemas.microsoft.com/office/powerpoint/2010/main" val="2875855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26</a:t>
            </a:fld>
            <a:endParaRPr lang="es-CL" dirty="0"/>
          </a:p>
        </p:txBody>
      </p:sp>
    </p:spTree>
    <p:extLst>
      <p:ext uri="{BB962C8B-B14F-4D97-AF65-F5344CB8AC3E}">
        <p14:creationId xmlns:p14="http://schemas.microsoft.com/office/powerpoint/2010/main" val="1576558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27</a:t>
            </a:fld>
            <a:endParaRPr lang="es-CL" dirty="0"/>
          </a:p>
        </p:txBody>
      </p:sp>
    </p:spTree>
    <p:extLst>
      <p:ext uri="{BB962C8B-B14F-4D97-AF65-F5344CB8AC3E}">
        <p14:creationId xmlns:p14="http://schemas.microsoft.com/office/powerpoint/2010/main" val="2098290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28</a:t>
            </a:fld>
            <a:endParaRPr lang="es-CL" dirty="0"/>
          </a:p>
        </p:txBody>
      </p:sp>
    </p:spTree>
    <p:extLst>
      <p:ext uri="{BB962C8B-B14F-4D97-AF65-F5344CB8AC3E}">
        <p14:creationId xmlns:p14="http://schemas.microsoft.com/office/powerpoint/2010/main" val="430009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29</a:t>
            </a:fld>
            <a:endParaRPr lang="es-CL" dirty="0"/>
          </a:p>
        </p:txBody>
      </p:sp>
    </p:spTree>
    <p:extLst>
      <p:ext uri="{BB962C8B-B14F-4D97-AF65-F5344CB8AC3E}">
        <p14:creationId xmlns:p14="http://schemas.microsoft.com/office/powerpoint/2010/main" val="1578057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30</a:t>
            </a:fld>
            <a:endParaRPr lang="es-CL" dirty="0"/>
          </a:p>
        </p:txBody>
      </p:sp>
    </p:spTree>
    <p:extLst>
      <p:ext uri="{BB962C8B-B14F-4D97-AF65-F5344CB8AC3E}">
        <p14:creationId xmlns:p14="http://schemas.microsoft.com/office/powerpoint/2010/main" val="9638741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31</a:t>
            </a:fld>
            <a:endParaRPr lang="es-CL" dirty="0"/>
          </a:p>
        </p:txBody>
      </p:sp>
    </p:spTree>
    <p:extLst>
      <p:ext uri="{BB962C8B-B14F-4D97-AF65-F5344CB8AC3E}">
        <p14:creationId xmlns:p14="http://schemas.microsoft.com/office/powerpoint/2010/main" val="36367509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32</a:t>
            </a:fld>
            <a:endParaRPr lang="es-CL" dirty="0"/>
          </a:p>
        </p:txBody>
      </p:sp>
    </p:spTree>
    <p:extLst>
      <p:ext uri="{BB962C8B-B14F-4D97-AF65-F5344CB8AC3E}">
        <p14:creationId xmlns:p14="http://schemas.microsoft.com/office/powerpoint/2010/main" val="16290355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33</a:t>
            </a:fld>
            <a:endParaRPr lang="es-CL" dirty="0"/>
          </a:p>
        </p:txBody>
      </p:sp>
    </p:spTree>
    <p:extLst>
      <p:ext uri="{BB962C8B-B14F-4D97-AF65-F5344CB8AC3E}">
        <p14:creationId xmlns:p14="http://schemas.microsoft.com/office/powerpoint/2010/main" val="585993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35</a:t>
            </a:fld>
            <a:endParaRPr lang="es-CL" dirty="0"/>
          </a:p>
        </p:txBody>
      </p:sp>
    </p:spTree>
    <p:extLst>
      <p:ext uri="{BB962C8B-B14F-4D97-AF65-F5344CB8AC3E}">
        <p14:creationId xmlns:p14="http://schemas.microsoft.com/office/powerpoint/2010/main" val="23311810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36</a:t>
            </a:fld>
            <a:endParaRPr lang="es-CL" dirty="0"/>
          </a:p>
        </p:txBody>
      </p:sp>
    </p:spTree>
    <p:extLst>
      <p:ext uri="{BB962C8B-B14F-4D97-AF65-F5344CB8AC3E}">
        <p14:creationId xmlns:p14="http://schemas.microsoft.com/office/powerpoint/2010/main" val="213143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37</a:t>
            </a:fld>
            <a:endParaRPr lang="es-CL" dirty="0"/>
          </a:p>
        </p:txBody>
      </p:sp>
    </p:spTree>
    <p:extLst>
      <p:ext uri="{BB962C8B-B14F-4D97-AF65-F5344CB8AC3E}">
        <p14:creationId xmlns:p14="http://schemas.microsoft.com/office/powerpoint/2010/main" val="36743481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38</a:t>
            </a:fld>
            <a:endParaRPr lang="es-CL" dirty="0"/>
          </a:p>
        </p:txBody>
      </p:sp>
    </p:spTree>
    <p:extLst>
      <p:ext uri="{BB962C8B-B14F-4D97-AF65-F5344CB8AC3E}">
        <p14:creationId xmlns:p14="http://schemas.microsoft.com/office/powerpoint/2010/main" val="30902945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39</a:t>
            </a:fld>
            <a:endParaRPr lang="es-CL" dirty="0"/>
          </a:p>
        </p:txBody>
      </p:sp>
    </p:spTree>
    <p:extLst>
      <p:ext uri="{BB962C8B-B14F-4D97-AF65-F5344CB8AC3E}">
        <p14:creationId xmlns:p14="http://schemas.microsoft.com/office/powerpoint/2010/main" val="37132041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40</a:t>
            </a:fld>
            <a:endParaRPr lang="es-CL" dirty="0"/>
          </a:p>
        </p:txBody>
      </p:sp>
    </p:spTree>
    <p:extLst>
      <p:ext uri="{BB962C8B-B14F-4D97-AF65-F5344CB8AC3E}">
        <p14:creationId xmlns:p14="http://schemas.microsoft.com/office/powerpoint/2010/main" val="394943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41</a:t>
            </a:fld>
            <a:endParaRPr lang="es-CL" dirty="0"/>
          </a:p>
        </p:txBody>
      </p:sp>
    </p:spTree>
    <p:extLst>
      <p:ext uri="{BB962C8B-B14F-4D97-AF65-F5344CB8AC3E}">
        <p14:creationId xmlns:p14="http://schemas.microsoft.com/office/powerpoint/2010/main" val="281991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42</a:t>
            </a:fld>
            <a:endParaRPr lang="es-CL" dirty="0"/>
          </a:p>
        </p:txBody>
      </p:sp>
    </p:spTree>
    <p:extLst>
      <p:ext uri="{BB962C8B-B14F-4D97-AF65-F5344CB8AC3E}">
        <p14:creationId xmlns:p14="http://schemas.microsoft.com/office/powerpoint/2010/main" val="5690210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43</a:t>
            </a:fld>
            <a:endParaRPr lang="es-CL" dirty="0"/>
          </a:p>
        </p:txBody>
      </p:sp>
    </p:spTree>
    <p:extLst>
      <p:ext uri="{BB962C8B-B14F-4D97-AF65-F5344CB8AC3E}">
        <p14:creationId xmlns:p14="http://schemas.microsoft.com/office/powerpoint/2010/main" val="30717798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44</a:t>
            </a:fld>
            <a:endParaRPr lang="es-CL" dirty="0"/>
          </a:p>
        </p:txBody>
      </p:sp>
    </p:spTree>
    <p:extLst>
      <p:ext uri="{BB962C8B-B14F-4D97-AF65-F5344CB8AC3E}">
        <p14:creationId xmlns:p14="http://schemas.microsoft.com/office/powerpoint/2010/main" val="29628330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45</a:t>
            </a:fld>
            <a:endParaRPr lang="es-CL" dirty="0"/>
          </a:p>
        </p:txBody>
      </p:sp>
    </p:spTree>
    <p:extLst>
      <p:ext uri="{BB962C8B-B14F-4D97-AF65-F5344CB8AC3E}">
        <p14:creationId xmlns:p14="http://schemas.microsoft.com/office/powerpoint/2010/main" val="20517898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46</a:t>
            </a:fld>
            <a:endParaRPr lang="es-CL" dirty="0"/>
          </a:p>
        </p:txBody>
      </p:sp>
    </p:spTree>
    <p:extLst>
      <p:ext uri="{BB962C8B-B14F-4D97-AF65-F5344CB8AC3E}">
        <p14:creationId xmlns:p14="http://schemas.microsoft.com/office/powerpoint/2010/main" val="5258246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47</a:t>
            </a:fld>
            <a:endParaRPr lang="es-CL" dirty="0"/>
          </a:p>
        </p:txBody>
      </p:sp>
    </p:spTree>
    <p:extLst>
      <p:ext uri="{BB962C8B-B14F-4D97-AF65-F5344CB8AC3E}">
        <p14:creationId xmlns:p14="http://schemas.microsoft.com/office/powerpoint/2010/main" val="35088863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48</a:t>
            </a:fld>
            <a:endParaRPr lang="es-CL" dirty="0"/>
          </a:p>
        </p:txBody>
      </p:sp>
    </p:spTree>
    <p:extLst>
      <p:ext uri="{BB962C8B-B14F-4D97-AF65-F5344CB8AC3E}">
        <p14:creationId xmlns:p14="http://schemas.microsoft.com/office/powerpoint/2010/main" val="12039744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49</a:t>
            </a:fld>
            <a:endParaRPr lang="es-CL" dirty="0"/>
          </a:p>
        </p:txBody>
      </p:sp>
    </p:spTree>
    <p:extLst>
      <p:ext uri="{BB962C8B-B14F-4D97-AF65-F5344CB8AC3E}">
        <p14:creationId xmlns:p14="http://schemas.microsoft.com/office/powerpoint/2010/main" val="17579741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50</a:t>
            </a:fld>
            <a:endParaRPr lang="es-CL" dirty="0"/>
          </a:p>
        </p:txBody>
      </p:sp>
    </p:spTree>
    <p:extLst>
      <p:ext uri="{BB962C8B-B14F-4D97-AF65-F5344CB8AC3E}">
        <p14:creationId xmlns:p14="http://schemas.microsoft.com/office/powerpoint/2010/main" val="14681963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51</a:t>
            </a:fld>
            <a:endParaRPr lang="es-CL" dirty="0"/>
          </a:p>
        </p:txBody>
      </p:sp>
    </p:spTree>
    <p:extLst>
      <p:ext uri="{BB962C8B-B14F-4D97-AF65-F5344CB8AC3E}">
        <p14:creationId xmlns:p14="http://schemas.microsoft.com/office/powerpoint/2010/main" val="105530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52</a:t>
            </a:fld>
            <a:endParaRPr lang="es-CL" dirty="0"/>
          </a:p>
        </p:txBody>
      </p:sp>
    </p:spTree>
    <p:extLst>
      <p:ext uri="{BB962C8B-B14F-4D97-AF65-F5344CB8AC3E}">
        <p14:creationId xmlns:p14="http://schemas.microsoft.com/office/powerpoint/2010/main" val="28231140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53</a:t>
            </a:fld>
            <a:endParaRPr lang="es-CL" dirty="0"/>
          </a:p>
        </p:txBody>
      </p:sp>
    </p:spTree>
    <p:extLst>
      <p:ext uri="{BB962C8B-B14F-4D97-AF65-F5344CB8AC3E}">
        <p14:creationId xmlns:p14="http://schemas.microsoft.com/office/powerpoint/2010/main" val="34172159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54</a:t>
            </a:fld>
            <a:endParaRPr lang="es-CL" dirty="0"/>
          </a:p>
        </p:txBody>
      </p:sp>
    </p:spTree>
    <p:extLst>
      <p:ext uri="{BB962C8B-B14F-4D97-AF65-F5344CB8AC3E}">
        <p14:creationId xmlns:p14="http://schemas.microsoft.com/office/powerpoint/2010/main" val="20082359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55</a:t>
            </a:fld>
            <a:endParaRPr lang="es-CL" dirty="0"/>
          </a:p>
        </p:txBody>
      </p:sp>
    </p:spTree>
    <p:extLst>
      <p:ext uri="{BB962C8B-B14F-4D97-AF65-F5344CB8AC3E}">
        <p14:creationId xmlns:p14="http://schemas.microsoft.com/office/powerpoint/2010/main" val="2390687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56</a:t>
            </a:fld>
            <a:endParaRPr lang="es-CL" dirty="0"/>
          </a:p>
        </p:txBody>
      </p:sp>
    </p:spTree>
    <p:extLst>
      <p:ext uri="{BB962C8B-B14F-4D97-AF65-F5344CB8AC3E}">
        <p14:creationId xmlns:p14="http://schemas.microsoft.com/office/powerpoint/2010/main" val="1162251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42910" y="928670"/>
            <a:ext cx="7772400" cy="1470025"/>
          </a:xfrm>
        </p:spPr>
        <p:txBody>
          <a:bodyPr/>
          <a:lstStyle>
            <a:lvl1pPr>
              <a:defRPr b="0">
                <a:solidFill>
                  <a:schemeClr val="tx1"/>
                </a:solidFill>
              </a:defRPr>
            </a:lvl1pPr>
          </a:lstStyle>
          <a:p>
            <a:r>
              <a:rPr lang="es-ES" smtClean="0"/>
              <a:t>Haga clic para modificar el estilo de título del patrón</a:t>
            </a:r>
            <a:endParaRPr lang="es-ES_tradnl"/>
          </a:p>
        </p:txBody>
      </p:sp>
      <p:sp>
        <p:nvSpPr>
          <p:cNvPr id="3" name="Subtítulo 2"/>
          <p:cNvSpPr>
            <a:spLocks noGrp="1"/>
          </p:cNvSpPr>
          <p:nvPr>
            <p:ph type="subTitle" idx="1"/>
          </p:nvPr>
        </p:nvSpPr>
        <p:spPr>
          <a:xfrm>
            <a:off x="1371600" y="4929198"/>
            <a:ext cx="6400800" cy="709602"/>
          </a:xfrm>
        </p:spPr>
        <p:txBody>
          <a:bodyPr>
            <a:normAutofit/>
          </a:bodyPr>
          <a:lstStyle>
            <a:lvl1pPr marL="0" indent="0" algn="ctr">
              <a:buNone/>
              <a:defRPr sz="24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_tradnl"/>
          </a:p>
        </p:txBody>
      </p:sp>
      <p:sp>
        <p:nvSpPr>
          <p:cNvPr id="5"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6" name="Marcador de pie de página 4"/>
          <p:cNvSpPr>
            <a:spLocks noGrp="1"/>
          </p:cNvSpPr>
          <p:nvPr>
            <p:ph type="ftr" sz="quarter" idx="11"/>
          </p:nvPr>
        </p:nvSpPr>
        <p:spPr/>
        <p:txBody>
          <a:bodyPr/>
          <a:lstStyle>
            <a:lvl1pPr>
              <a:defRPr/>
            </a:lvl1pPr>
          </a:lstStyle>
          <a:p>
            <a:endParaRPr lang="es-CL" dirty="0"/>
          </a:p>
        </p:txBody>
      </p:sp>
      <p:sp>
        <p:nvSpPr>
          <p:cNvPr id="7"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10" name="9 Marcador de fecha"/>
          <p:cNvSpPr>
            <a:spLocks noGrp="1"/>
          </p:cNvSpPr>
          <p:nvPr>
            <p:ph type="dt" sz="half" idx="10"/>
          </p:nvPr>
        </p:nvSpPr>
        <p:spPr>
          <a:xfrm>
            <a:off x="457200" y="6356350"/>
            <a:ext cx="2133600" cy="365125"/>
          </a:xfrm>
          <a:prstGeom prst="rect">
            <a:avLst/>
          </a:prstGeom>
        </p:spPr>
        <p:txBody>
          <a:bodyPr/>
          <a:lstStyle/>
          <a:p>
            <a:fld id="{6C70D0AA-A564-40E6-BDF9-FE3371FD07B4}" type="datetimeFigureOut">
              <a:rPr lang="es-CL" smtClean="0"/>
              <a:pPr/>
              <a:t>29-10-2017</a:t>
            </a:fld>
            <a:endParaRPr lang="es-CL" dirty="0"/>
          </a:p>
        </p:txBody>
      </p:sp>
      <p:sp>
        <p:nvSpPr>
          <p:cNvPr id="11" name="10 Marcador de número de diapositiva"/>
          <p:cNvSpPr>
            <a:spLocks noGrp="1"/>
          </p:cNvSpPr>
          <p:nvPr>
            <p:ph type="sldNum" sz="quarter" idx="11"/>
          </p:nvPr>
        </p:nvSpPr>
        <p:spPr/>
        <p:txBody>
          <a:bodyPr/>
          <a:lstStyle/>
          <a:p>
            <a:fld id="{04CB81E1-065B-41FA-A93E-2D40791BFEEB}" type="slidenum">
              <a:rPr lang="es-CL" smtClean="0"/>
              <a:pPr/>
              <a:t>‹Nº›</a:t>
            </a:fld>
            <a:endParaRPr lang="es-CL" dirty="0"/>
          </a:p>
        </p:txBody>
      </p:sp>
      <p:sp>
        <p:nvSpPr>
          <p:cNvPr id="12" name="11 Marcador de pie de página"/>
          <p:cNvSpPr>
            <a:spLocks noGrp="1"/>
          </p:cNvSpPr>
          <p:nvPr>
            <p:ph type="ftr" sz="quarter" idx="12"/>
          </p:nvPr>
        </p:nvSpPr>
        <p:spPr/>
        <p:txBody>
          <a:bodyPr/>
          <a:lstStyle/>
          <a:p>
            <a:endParaRPr lang="es-CL" dirty="0"/>
          </a:p>
        </p:txBody>
      </p:sp>
      <p:sp>
        <p:nvSpPr>
          <p:cNvPr id="13" name="12 Título"/>
          <p:cNvSpPr>
            <a:spLocks noGrp="1"/>
          </p:cNvSpPr>
          <p:nvPr>
            <p:ph type="title"/>
          </p:nvPr>
        </p:nvSpPr>
        <p:spPr/>
        <p:txBody>
          <a:bodyPr/>
          <a:lstStyle>
            <a:lvl1pPr algn="r">
              <a:defRPr sz="3600">
                <a:solidFill>
                  <a:schemeClr val="tx2">
                    <a:lumMod val="50000"/>
                  </a:schemeClr>
                </a:solidFill>
              </a:defRPr>
            </a:lvl1pPr>
          </a:lstStyle>
          <a:p>
            <a:r>
              <a:rPr lang="es-ES" smtClean="0"/>
              <a:t>Haga clic para modificar el estilo de título del patrón</a:t>
            </a:r>
            <a:endParaRPr lang="es-C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s-ES" dirty="0" smtClean="0"/>
              <a:t>Haga clic para modificar el estilo de título del patrón</a:t>
            </a:r>
            <a:endParaRPr lang="es-ES_tradnl" dirty="0"/>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5" name="Marcador de pie de página 4"/>
          <p:cNvSpPr>
            <a:spLocks noGrp="1"/>
          </p:cNvSpPr>
          <p:nvPr>
            <p:ph type="ftr" sz="quarter" idx="10"/>
          </p:nvPr>
        </p:nvSpPr>
        <p:spPr/>
        <p:txBody>
          <a:bodyPr/>
          <a:lstStyle>
            <a:lvl1pPr>
              <a:defRPr/>
            </a:lvl1pPr>
          </a:lstStyle>
          <a:p>
            <a:endParaRPr lang="es-CL" dirty="0"/>
          </a:p>
        </p:txBody>
      </p:sp>
      <p:sp>
        <p:nvSpPr>
          <p:cNvPr id="6" name="Marcador de número de diapositiva 5"/>
          <p:cNvSpPr>
            <a:spLocks noGrp="1"/>
          </p:cNvSpPr>
          <p:nvPr>
            <p:ph type="sldNum" sz="quarter" idx="11"/>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_tradnl"/>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5"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6" name="Marcador de pie de página 4"/>
          <p:cNvSpPr>
            <a:spLocks noGrp="1"/>
          </p:cNvSpPr>
          <p:nvPr>
            <p:ph type="ftr" sz="quarter" idx="11"/>
          </p:nvPr>
        </p:nvSpPr>
        <p:spPr/>
        <p:txBody>
          <a:bodyPr/>
          <a:lstStyle>
            <a:lvl1pPr>
              <a:defRPr/>
            </a:lvl1pPr>
          </a:lstStyle>
          <a:p>
            <a:endParaRPr lang="es-CL" dirty="0"/>
          </a:p>
        </p:txBody>
      </p:sp>
      <p:sp>
        <p:nvSpPr>
          <p:cNvPr id="7"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 smtClean="0"/>
              <a:t>Haga clic para modificar el estilo de título del patrón</a:t>
            </a:r>
            <a:endParaRPr lang="es-ES_tradnl"/>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7"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8" name="Marcador de pie de página 4"/>
          <p:cNvSpPr>
            <a:spLocks noGrp="1"/>
          </p:cNvSpPr>
          <p:nvPr>
            <p:ph type="ftr" sz="quarter" idx="11"/>
          </p:nvPr>
        </p:nvSpPr>
        <p:spPr/>
        <p:txBody>
          <a:bodyPr/>
          <a:lstStyle>
            <a:lvl1pPr>
              <a:defRPr/>
            </a:lvl1pPr>
          </a:lstStyle>
          <a:p>
            <a:endParaRPr lang="es-CL" dirty="0"/>
          </a:p>
        </p:txBody>
      </p:sp>
      <p:sp>
        <p:nvSpPr>
          <p:cNvPr id="9"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lgn="r">
              <a:defRPr sz="3600">
                <a:solidFill>
                  <a:schemeClr val="tx2">
                    <a:lumMod val="50000"/>
                  </a:schemeClr>
                </a:solidFill>
              </a:defRPr>
            </a:lvl1pPr>
          </a:lstStyle>
          <a:p>
            <a:r>
              <a:rPr lang="es-ES" smtClean="0"/>
              <a:t>Haga clic para modificar el estilo de título del patrón</a:t>
            </a:r>
            <a:endParaRPr lang="es-ES_tradnl" dirty="0"/>
          </a:p>
        </p:txBody>
      </p:sp>
      <p:sp>
        <p:nvSpPr>
          <p:cNvPr id="3"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4" name="Marcador de pie de página 4"/>
          <p:cNvSpPr>
            <a:spLocks noGrp="1"/>
          </p:cNvSpPr>
          <p:nvPr>
            <p:ph type="ftr" sz="quarter" idx="11"/>
          </p:nvPr>
        </p:nvSpPr>
        <p:spPr/>
        <p:txBody>
          <a:bodyPr/>
          <a:lstStyle>
            <a:lvl1pPr>
              <a:defRPr/>
            </a:lvl1pPr>
          </a:lstStyle>
          <a:p>
            <a:endParaRPr lang="es-CL" dirty="0"/>
          </a:p>
        </p:txBody>
      </p:sp>
      <p:sp>
        <p:nvSpPr>
          <p:cNvPr id="5"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3" name="Marcador de pie de página 4"/>
          <p:cNvSpPr>
            <a:spLocks noGrp="1"/>
          </p:cNvSpPr>
          <p:nvPr>
            <p:ph type="ftr" sz="quarter" idx="11"/>
          </p:nvPr>
        </p:nvSpPr>
        <p:spPr/>
        <p:txBody>
          <a:bodyPr/>
          <a:lstStyle>
            <a:lvl1pPr>
              <a:defRPr/>
            </a:lvl1pPr>
          </a:lstStyle>
          <a:p>
            <a:endParaRPr lang="es-CL" dirty="0"/>
          </a:p>
        </p:txBody>
      </p:sp>
      <p:sp>
        <p:nvSpPr>
          <p:cNvPr id="4"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_tradnl"/>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6" name="Marcador de pie de página 4"/>
          <p:cNvSpPr>
            <a:spLocks noGrp="1"/>
          </p:cNvSpPr>
          <p:nvPr>
            <p:ph type="ftr" sz="quarter" idx="11"/>
          </p:nvPr>
        </p:nvSpPr>
        <p:spPr/>
        <p:txBody>
          <a:bodyPr/>
          <a:lstStyle>
            <a:lvl1pPr>
              <a:defRPr/>
            </a:lvl1pPr>
          </a:lstStyle>
          <a:p>
            <a:endParaRPr lang="es-CL" dirty="0"/>
          </a:p>
        </p:txBody>
      </p:sp>
      <p:sp>
        <p:nvSpPr>
          <p:cNvPr id="7"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_tradnl"/>
          </a:p>
        </p:txBody>
      </p:sp>
      <p:sp>
        <p:nvSpPr>
          <p:cNvPr id="3" name="Marcador de posición de imagen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dirty="0" smtClean="0"/>
              <a:t>Haga clic en el icono para agregar una imagen</a:t>
            </a:r>
            <a:endParaRPr lang="es-ES_tradnl" noProof="0" dirty="0" smtClean="0"/>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6" name="Marcador de pie de página 4"/>
          <p:cNvSpPr>
            <a:spLocks noGrp="1"/>
          </p:cNvSpPr>
          <p:nvPr>
            <p:ph type="ftr" sz="quarter" idx="11"/>
          </p:nvPr>
        </p:nvSpPr>
        <p:spPr/>
        <p:txBody>
          <a:bodyPr/>
          <a:lstStyle>
            <a:lvl1pPr>
              <a:defRPr/>
            </a:lvl1pPr>
          </a:lstStyle>
          <a:p>
            <a:endParaRPr lang="es-CL" dirty="0"/>
          </a:p>
        </p:txBody>
      </p:sp>
      <p:sp>
        <p:nvSpPr>
          <p:cNvPr id="7"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4"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5" name="Marcador de pie de página 4"/>
          <p:cNvSpPr>
            <a:spLocks noGrp="1"/>
          </p:cNvSpPr>
          <p:nvPr>
            <p:ph type="ftr" sz="quarter" idx="11"/>
          </p:nvPr>
        </p:nvSpPr>
        <p:spPr/>
        <p:txBody>
          <a:bodyPr/>
          <a:lstStyle>
            <a:lvl1pPr>
              <a:defRPr/>
            </a:lvl1pPr>
          </a:lstStyle>
          <a:p>
            <a:endParaRPr lang="es-CL" dirty="0"/>
          </a:p>
        </p:txBody>
      </p:sp>
      <p:sp>
        <p:nvSpPr>
          <p:cNvPr id="6"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_tradnl"/>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_tradnl"/>
          </a:p>
        </p:txBody>
      </p:sp>
      <p:sp>
        <p:nvSpPr>
          <p:cNvPr id="4" name="Marcador de fecha 3"/>
          <p:cNvSpPr>
            <a:spLocks noGrp="1"/>
          </p:cNvSpPr>
          <p:nvPr>
            <p:ph type="dt" sz="half" idx="10"/>
          </p:nvPr>
        </p:nvSpPr>
        <p:spPr>
          <a:xfrm>
            <a:off x="457200" y="6356350"/>
            <a:ext cx="2133600" cy="365125"/>
          </a:xfrm>
          <a:prstGeom prst="rect">
            <a:avLst/>
          </a:prstGeom>
        </p:spPr>
        <p:txBody>
          <a:bodyPr/>
          <a:lstStyle>
            <a:lvl1pPr>
              <a:defRPr/>
            </a:lvl1pPr>
          </a:lstStyle>
          <a:p>
            <a:fld id="{41BF2EB3-0EDA-4ED9-9536-B32CA2814CB2}" type="datetimeFigureOut">
              <a:rPr lang="es-CL" smtClean="0"/>
              <a:pPr/>
              <a:t>29-10-2017</a:t>
            </a:fld>
            <a:endParaRPr lang="es-CL" dirty="0"/>
          </a:p>
        </p:txBody>
      </p:sp>
      <p:sp>
        <p:nvSpPr>
          <p:cNvPr id="5" name="Marcador de pie de página 4"/>
          <p:cNvSpPr>
            <a:spLocks noGrp="1"/>
          </p:cNvSpPr>
          <p:nvPr>
            <p:ph type="ftr" sz="quarter" idx="11"/>
          </p:nvPr>
        </p:nvSpPr>
        <p:spPr/>
        <p:txBody>
          <a:bodyPr/>
          <a:lstStyle>
            <a:lvl1pPr>
              <a:defRPr/>
            </a:lvl1pPr>
          </a:lstStyle>
          <a:p>
            <a:endParaRPr lang="es-CL" dirty="0"/>
          </a:p>
        </p:txBody>
      </p:sp>
      <p:sp>
        <p:nvSpPr>
          <p:cNvPr id="6" name="Marcador de número de diapositiva 5"/>
          <p:cNvSpPr>
            <a:spLocks noGrp="1"/>
          </p:cNvSpPr>
          <p:nvPr>
            <p:ph type="sldNum" sz="quarter" idx="12"/>
          </p:nvPr>
        </p:nvSpPr>
        <p:spPr/>
        <p:txBody>
          <a:bodyPr/>
          <a:lstStyle>
            <a:lvl1pPr>
              <a:defRPr/>
            </a:lvl1pPr>
          </a:lstStyle>
          <a:p>
            <a:fld id="{04CB81E1-065B-41FA-A93E-2D40791BFEEB}" type="slidenum">
              <a:rPr lang="es-CL" smtClean="0"/>
              <a:pPr/>
              <a:t>‹Nº›</a:t>
            </a:fld>
            <a:endParaRPr lang="es-C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y contenido">
    <p:spTree>
      <p:nvGrpSpPr>
        <p:cNvPr id="1" name=""/>
        <p:cNvGrpSpPr/>
        <p:nvPr/>
      </p:nvGrpSpPr>
      <p:grpSpPr>
        <a:xfrm>
          <a:off x="0" y="0"/>
          <a:ext cx="0" cy="0"/>
          <a:chOff x="0" y="0"/>
          <a:chExt cx="0" cy="0"/>
        </a:xfrm>
      </p:grpSpPr>
      <p:sp>
        <p:nvSpPr>
          <p:cNvPr id="3" name="Shape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Shape 3"/>
          <p:cNvSpPr>
            <a:spLocks noGrp="1"/>
          </p:cNvSpPr>
          <p:nvPr>
            <p:ph type="dt" sz="half" idx="10"/>
          </p:nvPr>
        </p:nvSpPr>
        <p:spPr>
          <a:xfrm>
            <a:off x="457200" y="6356350"/>
            <a:ext cx="2133600" cy="365125"/>
          </a:xfrm>
          <a:prstGeom prst="rect">
            <a:avLst/>
          </a:prstGeom>
        </p:spPr>
        <p:txBody>
          <a:bodyPr/>
          <a:lstStyle/>
          <a:p>
            <a:fld id="{41BF2EB3-0EDA-4ED9-9536-B32CA2814CB2}" type="datetimeFigureOut">
              <a:rPr lang="es-CL" smtClean="0"/>
              <a:pPr/>
              <a:t>29-10-2017</a:t>
            </a:fld>
            <a:endParaRPr lang="es-CL" dirty="0"/>
          </a:p>
        </p:txBody>
      </p:sp>
      <p:sp>
        <p:nvSpPr>
          <p:cNvPr id="5" name="Shape 4"/>
          <p:cNvSpPr>
            <a:spLocks noGrp="1"/>
          </p:cNvSpPr>
          <p:nvPr>
            <p:ph type="ftr" sz="quarter" idx="11"/>
          </p:nvPr>
        </p:nvSpPr>
        <p:spPr/>
        <p:txBody>
          <a:bodyPr/>
          <a:lstStyle/>
          <a:p>
            <a:endParaRPr lang="es-CL" dirty="0"/>
          </a:p>
        </p:txBody>
      </p:sp>
      <p:sp>
        <p:nvSpPr>
          <p:cNvPr id="6" name="Shape 5"/>
          <p:cNvSpPr>
            <a:spLocks noGrp="1"/>
          </p:cNvSpPr>
          <p:nvPr>
            <p:ph type="sldNum" sz="quarter" idx="12"/>
          </p:nvPr>
        </p:nvSpPr>
        <p:spPr/>
        <p:txBody>
          <a:bodyPr/>
          <a:lstStyle/>
          <a:p>
            <a:fld id="{04CB81E1-065B-41FA-A93E-2D40791BFEEB}" type="slidenum">
              <a:rPr lang="es-CL" smtClean="0"/>
              <a:pPr/>
              <a:t>‹Nº›</a:t>
            </a:fld>
            <a:endParaRPr lang="es-CL" dirty="0"/>
          </a:p>
        </p:txBody>
      </p:sp>
      <p:sp>
        <p:nvSpPr>
          <p:cNvPr id="7" name="Rectangle 6"/>
          <p:cNvSpPr>
            <a:spLocks noGrp="1"/>
          </p:cNvSpPr>
          <p:nvPr>
            <p:ph type="title"/>
          </p:nvPr>
        </p:nvSpPr>
        <p:spPr/>
        <p:txBody>
          <a:bodyPr/>
          <a:lstStyle/>
          <a:p>
            <a:r>
              <a:rPr lang="es-ES" smtClean="0"/>
              <a:t>Haga clic para modificar el estilo de título del patrón</a:t>
            </a:r>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upo 6"/>
          <p:cNvGrpSpPr/>
          <p:nvPr userDrawn="1"/>
        </p:nvGrpSpPr>
        <p:grpSpPr>
          <a:xfrm>
            <a:off x="0" y="6283325"/>
            <a:ext cx="9144000" cy="574675"/>
            <a:chOff x="0" y="6283325"/>
            <a:chExt cx="9144000" cy="574675"/>
          </a:xfrm>
        </p:grpSpPr>
        <p:sp>
          <p:nvSpPr>
            <p:cNvPr id="8" name="10 Rectángulo">
              <a:extLst>
                <a:ext uri="{FF2B5EF4-FFF2-40B4-BE49-F238E27FC236}">
                  <a16:creationId xmlns:a16="http://schemas.microsoft.com/office/drawing/2014/main" xmlns="" id="{4D7D3691-0863-4CB8-83A7-D0919952D15B}"/>
                </a:ext>
              </a:extLst>
            </p:cNvPr>
            <p:cNvSpPr/>
            <p:nvPr userDrawn="1"/>
          </p:nvSpPr>
          <p:spPr>
            <a:xfrm>
              <a:off x="0" y="6283325"/>
              <a:ext cx="9144000" cy="574675"/>
            </a:xfrm>
            <a:prstGeom prst="rect">
              <a:avLst/>
            </a:prstGeom>
            <a:solidFill>
              <a:srgbClr val="F39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CL"/>
            </a:p>
          </p:txBody>
        </p:sp>
        <p:pic>
          <p:nvPicPr>
            <p:cNvPr id="9" name="6 Imagen" descr="capTICvariaciones fondo y color -1_blanco fondo transparente.png">
              <a:extLst>
                <a:ext uri="{FF2B5EF4-FFF2-40B4-BE49-F238E27FC236}">
                  <a16:creationId xmlns:a16="http://schemas.microsoft.com/office/drawing/2014/main" xmlns="" id="{BEF54760-0B36-426D-9BE9-1F924AE0A981}"/>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92100" y="6394450"/>
              <a:ext cx="90011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6" name="Marcador de título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_tradnl" smtClean="0"/>
              <a:t>Clic para editar título</a:t>
            </a:r>
          </a:p>
        </p:txBody>
      </p:sp>
      <p:sp>
        <p:nvSpPr>
          <p:cNvPr id="1027" name="Marcador de texto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es-CL" dirty="0"/>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fld id="{04CB81E1-065B-41FA-A93E-2D40791BFEEB}" type="slidenum">
              <a:rPr lang="es-CL" smtClean="0"/>
              <a:pPr/>
              <a:t>‹Nº›</a:t>
            </a:fld>
            <a:endParaRPr lang="es-CL" dirty="0"/>
          </a:p>
        </p:txBody>
      </p:sp>
      <p:pic>
        <p:nvPicPr>
          <p:cNvPr id="10" name="Picture 1" descr="A picture containing clipart&#10;&#10;Description generated with very high confidence"/>
          <p:cNvPicPr/>
          <p:nvPr userDrawn="1"/>
        </p:nvPicPr>
        <p:blipFill>
          <a:blip r:embed="rId15" cstate="print">
            <a:extLst>
              <a:ext uri="{28A0092B-C50C-407E-A947-70E740481C1C}">
                <a14:useLocalDpi xmlns:a14="http://schemas.microsoft.com/office/drawing/2010/main" val="0"/>
              </a:ext>
            </a:extLst>
          </a:blip>
          <a:stretch>
            <a:fillRect/>
          </a:stretch>
        </p:blipFill>
        <p:spPr>
          <a:xfrm>
            <a:off x="7596336" y="260648"/>
            <a:ext cx="1280758" cy="540977"/>
          </a:xfrm>
          <a:prstGeom prst="rect">
            <a:avLst/>
          </a:prstGeom>
        </p:spPr>
      </p:pic>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mj-cs"/>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es.wikipedia.org/wiki/Programaci%C3%B3n_orientada_a_objetos"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jarroba.com/arraylist-en-java-ejemplos/"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483768" y="620688"/>
            <a:ext cx="3676207" cy="1347333"/>
          </a:xfrm>
          <a:prstGeom prst="rect">
            <a:avLst/>
          </a:prstGeom>
        </p:spPr>
      </p:pic>
      <p:pic>
        <p:nvPicPr>
          <p:cNvPr id="3" name="Picture Placeholder 5">
            <a:extLst>
              <a:ext uri="{FF2B5EF4-FFF2-40B4-BE49-F238E27FC236}">
                <a16:creationId xmlns:a16="http://schemas.microsoft.com/office/drawing/2014/main" xmlns="" id="{2C58DB8F-4132-4FB5-9179-4E7D0C3D8114}"/>
              </a:ext>
            </a:extLst>
          </p:cNvPr>
          <p:cNvPicPr>
            <a:picLocks noChangeAspect="1"/>
          </p:cNvPicPr>
          <p:nvPr/>
        </p:nvPicPr>
        <p:blipFill>
          <a:blip r:embed="rId3">
            <a:extLst>
              <a:ext uri="{28A0092B-C50C-407E-A947-70E740481C1C}">
                <a14:useLocalDpi xmlns:a14="http://schemas.microsoft.com/office/drawing/2010/main" val="0"/>
              </a:ext>
            </a:extLst>
          </a:blip>
          <a:srcRect l="1564" r="1564"/>
          <a:stretch>
            <a:fillRect/>
          </a:stretch>
        </p:blipFill>
        <p:spPr bwMode="auto">
          <a:xfrm>
            <a:off x="0" y="0"/>
            <a:ext cx="9144000" cy="62928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2 Título">
            <a:extLst>
              <a:ext uri="{FF2B5EF4-FFF2-40B4-BE49-F238E27FC236}">
                <a16:creationId xmlns:a16="http://schemas.microsoft.com/office/drawing/2014/main" xmlns="" id="{CB2A55F3-BDC9-41D7-AFAF-AD4AD89F533B}"/>
              </a:ext>
            </a:extLst>
          </p:cNvPr>
          <p:cNvSpPr>
            <a:spLocks noGrp="1"/>
          </p:cNvSpPr>
          <p:nvPr>
            <p:ph type="ctrTitle"/>
          </p:nvPr>
        </p:nvSpPr>
        <p:spPr>
          <a:xfrm>
            <a:off x="179512" y="2132857"/>
            <a:ext cx="4392488" cy="3672408"/>
          </a:xfrm>
        </p:spPr>
        <p:txBody>
          <a:bodyPr/>
          <a:lstStyle/>
          <a:p>
            <a:pPr algn="r" fontAlgn="auto">
              <a:spcAft>
                <a:spcPts val="0"/>
              </a:spcAft>
              <a:defRPr/>
            </a:pPr>
            <a:r>
              <a:rPr lang="es-ES" b="1" dirty="0"/>
              <a:t>Curso</a:t>
            </a:r>
            <a:br>
              <a:rPr lang="es-ES" b="1" dirty="0"/>
            </a:br>
            <a:r>
              <a:rPr lang="es-CL" b="1" dirty="0" smtClean="0"/>
              <a:t>Desarrollo de Software</a:t>
            </a:r>
            <a:br>
              <a:rPr lang="es-CL" b="1" dirty="0" smtClean="0"/>
            </a:br>
            <a:r>
              <a:rPr lang="es-CL" b="1" dirty="0" smtClean="0"/>
              <a:t>Unidad </a:t>
            </a:r>
            <a:r>
              <a:rPr lang="es-CL" b="1" dirty="0" smtClean="0"/>
              <a:t>3</a:t>
            </a:r>
            <a:endParaRPr lang="es-ES" b="1" dirty="0"/>
          </a:p>
        </p:txBody>
      </p:sp>
      <p:sp>
        <p:nvSpPr>
          <p:cNvPr id="5" name="Rectangle 6">
            <a:extLst>
              <a:ext uri="{FF2B5EF4-FFF2-40B4-BE49-F238E27FC236}">
                <a16:creationId xmlns:a16="http://schemas.microsoft.com/office/drawing/2014/main" xmlns="" id="{AFD02F98-6002-412A-BC2A-33931BDA021B}"/>
              </a:ext>
            </a:extLst>
          </p:cNvPr>
          <p:cNvSpPr/>
          <p:nvPr/>
        </p:nvSpPr>
        <p:spPr>
          <a:xfrm>
            <a:off x="323528" y="332656"/>
            <a:ext cx="4248472" cy="646331"/>
          </a:xfrm>
          <a:prstGeom prst="rect">
            <a:avLst/>
          </a:prstGeom>
        </p:spPr>
        <p:txBody>
          <a:bodyPr wrap="square">
            <a:spAutoFit/>
          </a:bodyPr>
          <a:lstStyle/>
          <a:p>
            <a:pPr lvl="0" eaLnBrk="0" hangingPunct="0"/>
            <a:r>
              <a:rPr lang="es-ES" altLang="en-US" dirty="0">
                <a:solidFill>
                  <a:srgbClr val="000000"/>
                </a:solidFill>
                <a:ea typeface="Times New Roman" panose="02020603050405020304" pitchFamily="18" charset="0"/>
              </a:rPr>
              <a:t>Programa becas capital humano </a:t>
            </a:r>
            <a:endParaRPr lang="es-ES" altLang="en-US" dirty="0" smtClean="0">
              <a:solidFill>
                <a:srgbClr val="000000"/>
              </a:solidFill>
              <a:ea typeface="Times New Roman" panose="02020603050405020304" pitchFamily="18" charset="0"/>
            </a:endParaRPr>
          </a:p>
          <a:p>
            <a:pPr lvl="0" eaLnBrk="0" hangingPunct="0"/>
            <a:r>
              <a:rPr lang="es-ES" altLang="en-US" dirty="0" smtClean="0">
                <a:solidFill>
                  <a:srgbClr val="000000"/>
                </a:solidFill>
                <a:ea typeface="Times New Roman" panose="02020603050405020304" pitchFamily="18" charset="0"/>
              </a:rPr>
              <a:t>17PFC-73282</a:t>
            </a:r>
            <a:endParaRPr lang="es-ES" altLang="en-US" sz="2400" dirty="0"/>
          </a:p>
        </p:txBody>
      </p:sp>
    </p:spTree>
    <p:extLst>
      <p:ext uri="{BB962C8B-B14F-4D97-AF65-F5344CB8AC3E}">
        <p14:creationId xmlns:p14="http://schemas.microsoft.com/office/powerpoint/2010/main" val="7601124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texto"/>
          <p:cNvSpPr>
            <a:spLocks noGrp="1"/>
          </p:cNvSpPr>
          <p:nvPr>
            <p:ph type="body" idx="1"/>
          </p:nvPr>
        </p:nvSpPr>
        <p:spPr>
          <a:xfrm>
            <a:off x="323528" y="1784664"/>
            <a:ext cx="8208912" cy="3625608"/>
          </a:xfrm>
          <a:prstGeom prst="rect">
            <a:avLst/>
          </a:prstGeom>
        </p:spPr>
        <p:txBody>
          <a:bodyPr wrap="square">
            <a:spAutoFit/>
          </a:bodyPr>
          <a:lstStyle/>
          <a:p>
            <a:pPr algn="ctr"/>
            <a:endParaRPr lang="es-CL" sz="2800" b="1" dirty="0" smtClean="0">
              <a:latin typeface="Calibri" pitchFamily="34" charset="0"/>
            </a:endParaRPr>
          </a:p>
          <a:p>
            <a:pPr algn="ctr"/>
            <a:r>
              <a:rPr lang="es-CL" sz="2800" b="1" dirty="0" smtClean="0">
                <a:latin typeface="Calibri" pitchFamily="34" charset="0"/>
              </a:rPr>
              <a:t>Unidad </a:t>
            </a:r>
            <a:r>
              <a:rPr lang="es-CL" sz="2800" b="1" dirty="0">
                <a:latin typeface="Calibri" pitchFamily="34" charset="0"/>
              </a:rPr>
              <a:t>de Aprendizaje </a:t>
            </a:r>
            <a:r>
              <a:rPr lang="es-CL" sz="2800" b="1" dirty="0" smtClean="0">
                <a:latin typeface="Calibri" pitchFamily="34" charset="0"/>
              </a:rPr>
              <a:t>3</a:t>
            </a:r>
            <a:endParaRPr lang="es-CL" sz="2800" dirty="0" smtClean="0">
              <a:solidFill>
                <a:schemeClr val="bg1"/>
              </a:solidFill>
              <a:latin typeface="Calibri" pitchFamily="34" charset="0"/>
            </a:endParaRPr>
          </a:p>
          <a:p>
            <a:pPr algn="ctr"/>
            <a:r>
              <a:rPr lang="es-CL" sz="2800" dirty="0"/>
              <a:t>Programación </a:t>
            </a:r>
            <a:r>
              <a:rPr lang="es-CL" sz="2800" dirty="0" smtClean="0"/>
              <a:t>en </a:t>
            </a:r>
            <a:r>
              <a:rPr lang="es-CL" sz="2800" dirty="0" smtClean="0"/>
              <a:t>Java</a:t>
            </a:r>
          </a:p>
          <a:p>
            <a:pPr algn="ctr"/>
            <a:endParaRPr lang="es-CL" sz="2800" dirty="0">
              <a:latin typeface="Calibri" pitchFamily="34" charset="0"/>
            </a:endParaRPr>
          </a:p>
          <a:p>
            <a:pPr algn="ctr"/>
            <a:r>
              <a:rPr lang="es-CL" sz="2800" b="1" dirty="0" smtClean="0">
                <a:latin typeface="Calibri" pitchFamily="34" charset="0"/>
              </a:rPr>
              <a:t>EA 2:</a:t>
            </a:r>
            <a:r>
              <a:rPr lang="es-CL" sz="2800" dirty="0" smtClean="0">
                <a:latin typeface="Calibri" pitchFamily="34" charset="0"/>
              </a:rPr>
              <a:t> </a:t>
            </a:r>
            <a:r>
              <a:rPr lang="es-CL" sz="2800" b="1" dirty="0" smtClean="0"/>
              <a:t>“Introducción a </a:t>
            </a:r>
            <a:r>
              <a:rPr lang="es-CL" sz="2800" b="1" dirty="0" smtClean="0"/>
              <a:t>UML y POO”</a:t>
            </a:r>
            <a:endParaRPr lang="es-CL" sz="2800" b="1" dirty="0" smtClean="0"/>
          </a:p>
          <a:p>
            <a:pPr algn="ctr"/>
            <a:endParaRPr lang="es-CL" sz="2800" b="1" dirty="0"/>
          </a:p>
          <a:p>
            <a:pPr algn="ctr"/>
            <a:endParaRPr lang="es-CL" sz="2800" dirty="0"/>
          </a:p>
        </p:txBody>
      </p:sp>
    </p:spTree>
    <p:extLst>
      <p:ext uri="{BB962C8B-B14F-4D97-AF65-F5344CB8AC3E}">
        <p14:creationId xmlns:p14="http://schemas.microsoft.com/office/powerpoint/2010/main" val="4215256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texto"/>
          <p:cNvSpPr>
            <a:spLocks noGrp="1"/>
          </p:cNvSpPr>
          <p:nvPr>
            <p:ph type="body" idx="1"/>
          </p:nvPr>
        </p:nvSpPr>
        <p:spPr>
          <a:xfrm>
            <a:off x="323528" y="1784664"/>
            <a:ext cx="8208912" cy="3625608"/>
          </a:xfrm>
          <a:prstGeom prst="rect">
            <a:avLst/>
          </a:prstGeom>
        </p:spPr>
        <p:txBody>
          <a:bodyPr wrap="square">
            <a:spAutoFit/>
          </a:bodyPr>
          <a:lstStyle/>
          <a:p>
            <a:pPr algn="ctr"/>
            <a:endParaRPr lang="es-CL" sz="2800" b="1" dirty="0" smtClean="0">
              <a:latin typeface="Calibri" pitchFamily="34" charset="0"/>
            </a:endParaRPr>
          </a:p>
          <a:p>
            <a:pPr algn="ctr"/>
            <a:r>
              <a:rPr lang="es-CL" sz="2800" b="1" dirty="0" smtClean="0">
                <a:latin typeface="Calibri" pitchFamily="34" charset="0"/>
              </a:rPr>
              <a:t>Unidad </a:t>
            </a:r>
            <a:r>
              <a:rPr lang="es-CL" sz="2800" b="1" dirty="0">
                <a:latin typeface="Calibri" pitchFamily="34" charset="0"/>
              </a:rPr>
              <a:t>de Aprendizaje </a:t>
            </a:r>
            <a:r>
              <a:rPr lang="es-CL" sz="2800" b="1" dirty="0" smtClean="0">
                <a:latin typeface="Calibri" pitchFamily="34" charset="0"/>
              </a:rPr>
              <a:t>3</a:t>
            </a:r>
            <a:endParaRPr lang="es-CL" sz="2800" dirty="0" smtClean="0">
              <a:solidFill>
                <a:schemeClr val="bg1"/>
              </a:solidFill>
              <a:latin typeface="Calibri" pitchFamily="34" charset="0"/>
            </a:endParaRPr>
          </a:p>
          <a:p>
            <a:pPr algn="ctr"/>
            <a:r>
              <a:rPr lang="es-CL" sz="2800" dirty="0"/>
              <a:t>Programación </a:t>
            </a:r>
            <a:r>
              <a:rPr lang="es-CL" sz="2800" dirty="0" smtClean="0"/>
              <a:t>en </a:t>
            </a:r>
            <a:r>
              <a:rPr lang="es-CL" sz="2800" dirty="0" smtClean="0"/>
              <a:t>Java</a:t>
            </a:r>
          </a:p>
          <a:p>
            <a:pPr algn="ctr"/>
            <a:endParaRPr lang="es-CL" sz="2800" dirty="0">
              <a:latin typeface="Calibri" pitchFamily="34" charset="0"/>
            </a:endParaRPr>
          </a:p>
          <a:p>
            <a:pPr algn="ctr"/>
            <a:r>
              <a:rPr lang="es-CL" sz="2800" b="1" dirty="0" smtClean="0">
                <a:latin typeface="Calibri" pitchFamily="34" charset="0"/>
              </a:rPr>
              <a:t>EA 2:</a:t>
            </a:r>
            <a:r>
              <a:rPr lang="es-CL" sz="2800" dirty="0" smtClean="0">
                <a:latin typeface="Calibri" pitchFamily="34" charset="0"/>
              </a:rPr>
              <a:t> </a:t>
            </a:r>
            <a:r>
              <a:rPr lang="es-CL" sz="2800" b="1" dirty="0" smtClean="0"/>
              <a:t>“Introducción </a:t>
            </a:r>
            <a:r>
              <a:rPr lang="es-CL" sz="2800" b="1" smtClean="0"/>
              <a:t>a </a:t>
            </a:r>
            <a:r>
              <a:rPr lang="es-CL" sz="2800" b="1" smtClean="0"/>
              <a:t>UML”</a:t>
            </a:r>
            <a:endParaRPr lang="es-CL" sz="2800" b="1" dirty="0" smtClean="0"/>
          </a:p>
          <a:p>
            <a:pPr algn="ctr"/>
            <a:endParaRPr lang="es-CL" sz="2800" b="1" dirty="0"/>
          </a:p>
          <a:p>
            <a:pPr algn="ctr"/>
            <a:endParaRPr lang="es-CL" sz="2800" dirty="0"/>
          </a:p>
        </p:txBody>
      </p:sp>
    </p:spTree>
    <p:extLst>
      <p:ext uri="{BB962C8B-B14F-4D97-AF65-F5344CB8AC3E}">
        <p14:creationId xmlns:p14="http://schemas.microsoft.com/office/powerpoint/2010/main" val="41767442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UML son las siglas de “</a:t>
            </a:r>
            <a:r>
              <a:rPr lang="es-CL" sz="2400" dirty="0" err="1"/>
              <a:t>Unified</a:t>
            </a:r>
            <a:r>
              <a:rPr lang="es-CL" sz="2400" dirty="0"/>
              <a:t> </a:t>
            </a:r>
            <a:r>
              <a:rPr lang="es-CL" sz="2400" dirty="0" err="1"/>
              <a:t>Modeling</a:t>
            </a:r>
            <a:r>
              <a:rPr lang="es-CL" sz="2400" dirty="0"/>
              <a:t> </a:t>
            </a:r>
            <a:r>
              <a:rPr lang="es-CL" sz="2400" dirty="0" err="1"/>
              <a:t>Language</a:t>
            </a:r>
            <a:r>
              <a:rPr lang="es-CL" sz="2400" dirty="0"/>
              <a:t>” o “Lenguaje Unificado de Modelado”. Se trata de un estándar que se ha adoptado a nivel internacional por numerosos organismos y empresas para crear esquemas, diagramas y documentación relativa a los desarrollos de software (programas informáticos).</a:t>
            </a:r>
            <a:endParaRPr lang="es-CL" sz="2400" dirty="0" smtClean="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DEFINICIÓN Y CONCEPTO DE UML</a:t>
              </a:r>
              <a:endParaRPr lang="en-US" sz="2800" b="1" dirty="0"/>
            </a:p>
          </p:txBody>
        </p:sp>
      </p:grpSp>
      <p:pic>
        <p:nvPicPr>
          <p:cNvPr id="1026" name="Picture 2" descr="logo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9327" y="3328898"/>
            <a:ext cx="2095500" cy="159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El término “lenguaje” ha generado bastante confusión respecto a lo que es UML. En realidad el término lenguaje quizás no es el más apropiado, ya que no es un lenguaje propiamente dicho, sino una serie de normas y estándares gráficos respecto a cómo se deben representar los esquemas relativos al software. Mucha gente piensa por confusión que UML es un lenguaje de programación y esta idea es errónea: UML no es un lenguaje de programación. Como decimos, UML son una serie de normas y estándares que dicen cómo se debe representar algo.</a:t>
            </a:r>
            <a:endParaRPr lang="es-CL" sz="2400" dirty="0" smtClean="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¿QUÉ ES Y PARA QUÉ SIRVE UML?</a:t>
              </a:r>
              <a:endParaRPr lang="en-US" sz="2800" b="1" dirty="0"/>
            </a:p>
          </p:txBody>
        </p:sp>
      </p:grpSp>
    </p:spTree>
    <p:extLst>
      <p:ext uri="{BB962C8B-B14F-4D97-AF65-F5344CB8AC3E}">
        <p14:creationId xmlns:p14="http://schemas.microsoft.com/office/powerpoint/2010/main" val="9750612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Hemos dicho que UML es un estándar. Vamos a aclarar primero qué es un estándar. Supongamos que vamos a definir un estándar llamado “LMAPR” o lenguaje de modelado de aprenderaprogramar.com. Ahora definimos dentro de nuestro estándar estas normas:</a:t>
            </a:r>
          </a:p>
          <a:p>
            <a:pPr algn="just"/>
            <a:r>
              <a:rPr lang="es-CL" sz="2400" dirty="0"/>
              <a:t>Un animal debe representarse con su nombre escrito enteramente en minúsculas enmarcado dentro de un rectángulo doble. Encima del nombre debe etiquetarse el tipo de animal así: &lt;&lt;Tipo de Animal&gt;&gt;. Por ejemplo, &lt;&lt;Gato&gt;&gt;.</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¿QUÉ ES Y PARA QUÉ SIRVE UML?</a:t>
              </a:r>
              <a:endParaRPr lang="en-US" sz="2800" b="1" dirty="0"/>
            </a:p>
          </p:txBody>
        </p:sp>
      </p:grpSp>
    </p:spTree>
    <p:extLst>
      <p:ext uri="{BB962C8B-B14F-4D97-AF65-F5344CB8AC3E}">
        <p14:creationId xmlns:p14="http://schemas.microsoft.com/office/powerpoint/2010/main" val="1630554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Ahora supongamos que tenemos dos gatos, uno de los cuales le dice al otro “Caza un ratón y tráemelo aquí por favor”. Veamos formas de representar esto:</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¿QUÉ ES Y PARA QUÉ SIRVE UML?</a:t>
              </a:r>
              <a:endParaRPr lang="en-US" sz="2800" b="1" dirty="0"/>
            </a:p>
          </p:txBody>
        </p:sp>
      </p:grpSp>
      <p:pic>
        <p:nvPicPr>
          <p:cNvPr id="2050" name="Picture 2" descr="modelado estandar grafico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492896"/>
            <a:ext cx="5884523"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766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s-CL" sz="2400" dirty="0"/>
              <a:t>Esta es una forma de representación. Sin embargo, no se adapta al estándar que hemos definido por varios motivos: no indica &lt;&lt;Gato&gt;&gt; encima de los nombres de los animales, no escribe los nombres en minúsculas, no representa los animales con un rectángulo, etc.</a:t>
            </a:r>
          </a:p>
          <a:p>
            <a:pPr algn="just"/>
            <a:r>
              <a:rPr lang="es-CL" sz="2400" dirty="0"/>
              <a:t>Veamos la representación que sí se adaptaría al estándar definido:</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¿QUÉ ES Y PARA QUÉ SIRVE UML?</a:t>
              </a:r>
              <a:endParaRPr lang="en-US" sz="2800" b="1" dirty="0"/>
            </a:p>
          </p:txBody>
        </p:sp>
      </p:grpSp>
      <p:pic>
        <p:nvPicPr>
          <p:cNvPr id="5122" name="Picture 2" descr="modelado softw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37" y="4293096"/>
            <a:ext cx="7832880" cy="1331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6199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En el caso del software orientado a objetos, en vez de gatos tendremos clases u objetos instanciados, y dispondremos de numerosos tipos de esquemas y diagramas para representar distintas cosas. Un esquema que cumple las normas UML podría tener este aspecto:</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¿QUÉ ES Y PARA QUÉ SIRVE UML?</a:t>
              </a:r>
              <a:endParaRPr lang="en-US" sz="2800" b="1" dirty="0"/>
            </a:p>
          </p:txBody>
        </p:sp>
      </p:grpSp>
      <p:pic>
        <p:nvPicPr>
          <p:cNvPr id="6146" name="Picture 2" descr="ejemplo diagrama de clases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9" y="3140969"/>
            <a:ext cx="5400597"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2953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CL" sz="2400" dirty="0"/>
              <a:t>Usando UML se pueden construir numerosos tipos de diagramas. Vamos a citar algunos:</a:t>
            </a:r>
          </a:p>
          <a:p>
            <a:pPr algn="just"/>
            <a:r>
              <a:rPr lang="es-CL" sz="2400" b="1" u="sng" dirty="0"/>
              <a:t>Diagramas de casos de uso:</a:t>
            </a:r>
            <a:r>
              <a:rPr lang="es-CL" sz="2400" dirty="0"/>
              <a:t> representan a los actores y casos de uso (procesos principales) que intervienen en un desarrollo de software.</a:t>
            </a:r>
          </a:p>
          <a:p>
            <a:pPr algn="just"/>
            <a:r>
              <a:rPr lang="es-CL" sz="2400" b="1" u="sng" dirty="0"/>
              <a:t>Diagramas de clases</a:t>
            </a:r>
            <a:r>
              <a:rPr lang="es-CL" sz="2400" b="1" u="sng" dirty="0" smtClean="0"/>
              <a:t>:</a:t>
            </a:r>
            <a:r>
              <a:rPr lang="es-CL" sz="2400" b="1" dirty="0" smtClean="0"/>
              <a:t> </a:t>
            </a:r>
            <a:r>
              <a:rPr lang="es-CL" sz="2400" dirty="0" smtClean="0"/>
              <a:t>para </a:t>
            </a:r>
            <a:r>
              <a:rPr lang="es-CL" sz="2400" dirty="0"/>
              <a:t>UML una clase es una entidad, no una clase software. Un diagrama de clases UML puede ser un diagrama del dominio o representación de conceptos que intervienen en un problema, o también un diagrama de clases software. El sentido de un diagrama UML se lo da la persona que lo construye</a:t>
            </a:r>
            <a:r>
              <a:rPr lang="es-CL" sz="2400" dirty="0" smtClean="0"/>
              <a:t>.</a:t>
            </a:r>
            <a:endParaRPr lang="es-CL" sz="24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UML</a:t>
              </a:r>
              <a:endParaRPr lang="en-US" sz="2800" b="1" dirty="0"/>
            </a:p>
          </p:txBody>
        </p:sp>
      </p:grpSp>
    </p:spTree>
    <p:extLst>
      <p:ext uri="{BB962C8B-B14F-4D97-AF65-F5344CB8AC3E}">
        <p14:creationId xmlns:p14="http://schemas.microsoft.com/office/powerpoint/2010/main" val="1189321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s-CL" sz="2400" b="1" u="sng" dirty="0" smtClean="0"/>
              <a:t>Diagramas </a:t>
            </a:r>
            <a:r>
              <a:rPr lang="es-CL" sz="2400" b="1" u="sng" dirty="0"/>
              <a:t>de secuencia</a:t>
            </a:r>
            <a:r>
              <a:rPr lang="es-CL" sz="2400" b="1" u="sng" dirty="0" smtClean="0"/>
              <a:t>:</a:t>
            </a:r>
            <a:r>
              <a:rPr lang="es-CL" sz="2400" b="1" dirty="0" smtClean="0"/>
              <a:t> </a:t>
            </a:r>
            <a:r>
              <a:rPr lang="es-CL" sz="2400" dirty="0" smtClean="0"/>
              <a:t>suelen </a:t>
            </a:r>
            <a:r>
              <a:rPr lang="es-CL" sz="2400" dirty="0"/>
              <a:t>usarse para representar objetos software y el intercambio de mensajes entre ellos, representando la aparición de nuevos objetos de izquierda a derecha.</a:t>
            </a:r>
          </a:p>
          <a:p>
            <a:pPr algn="just"/>
            <a:r>
              <a:rPr lang="es-CL" sz="2400" b="1" u="sng" dirty="0"/>
              <a:t>Diagramas de colaboración</a:t>
            </a:r>
            <a:r>
              <a:rPr lang="es-CL" sz="2400" b="1" u="sng" dirty="0" smtClean="0"/>
              <a:t>:</a:t>
            </a:r>
            <a:r>
              <a:rPr lang="es-CL" sz="2400" b="1" dirty="0" smtClean="0"/>
              <a:t> </a:t>
            </a:r>
            <a:r>
              <a:rPr lang="es-CL" sz="2400" dirty="0" smtClean="0"/>
              <a:t>suelen </a:t>
            </a:r>
            <a:r>
              <a:rPr lang="es-CL" sz="2400" dirty="0"/>
              <a:t>usarse para representar objetos o clases y la forma en que se transmiten mensajes y colaboran entre ellos para cumplir un objetivo.</a:t>
            </a:r>
          </a:p>
          <a:p>
            <a:pPr algn="just"/>
            <a:r>
              <a:rPr lang="es-CL" sz="2400" b="1" u="sng" dirty="0"/>
              <a:t>Diagramas de estados</a:t>
            </a:r>
            <a:r>
              <a:rPr lang="es-CL" sz="2400" b="1" u="sng" dirty="0" smtClean="0"/>
              <a:t>:</a:t>
            </a:r>
            <a:r>
              <a:rPr lang="es-CL" sz="2400" b="1" dirty="0" smtClean="0"/>
              <a:t> </a:t>
            </a:r>
            <a:r>
              <a:rPr lang="es-CL" sz="2400" dirty="0" smtClean="0"/>
              <a:t>suelen </a:t>
            </a:r>
            <a:r>
              <a:rPr lang="es-CL" sz="2400" dirty="0"/>
              <a:t>usarse para representar cómo evoluciona un sistema (cómo va cambiando de estado) a medida que se producen determinados eventos.</a:t>
            </a:r>
          </a:p>
          <a:p>
            <a:pPr algn="just"/>
            <a:r>
              <a:rPr lang="es-CL" sz="2400" b="1" u="sng" dirty="0"/>
              <a:t>Otros diagramas</a:t>
            </a:r>
            <a:r>
              <a:rPr lang="es-CL" sz="2400" b="1" u="sng" dirty="0" smtClean="0"/>
              <a:t>:</a:t>
            </a:r>
            <a:r>
              <a:rPr lang="es-CL" sz="2400" b="1" dirty="0" smtClean="0"/>
              <a:t> </a:t>
            </a:r>
            <a:r>
              <a:rPr lang="es-CL" sz="2400" dirty="0" smtClean="0"/>
              <a:t>diagramas </a:t>
            </a:r>
            <a:r>
              <a:rPr lang="es-CL" sz="2400" dirty="0"/>
              <a:t>de actividad, diagramas de paquetes, diagramas de arquitectura software, etc.</a:t>
            </a:r>
          </a:p>
          <a:p>
            <a:pPr marL="0" indent="0" algn="just">
              <a:buNone/>
            </a:pPr>
            <a:endParaRPr lang="es-CL" sz="24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UML</a:t>
              </a:r>
              <a:endParaRPr lang="en-US" sz="2800" b="1" dirty="0"/>
            </a:p>
          </p:txBody>
        </p:sp>
      </p:grpSp>
    </p:spTree>
    <p:extLst>
      <p:ext uri="{BB962C8B-B14F-4D97-AF65-F5344CB8AC3E}">
        <p14:creationId xmlns:p14="http://schemas.microsoft.com/office/powerpoint/2010/main" val="40383914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a:t>
            </a:r>
            <a:r>
              <a:rPr lang="en-US" sz="2400" b="1" dirty="0"/>
              <a:t> de </a:t>
            </a:r>
            <a:r>
              <a:rPr lang="en-US" sz="2400" b="1" dirty="0" err="1"/>
              <a:t>casos</a:t>
            </a:r>
            <a:r>
              <a:rPr lang="en-US" sz="2400" b="1" dirty="0"/>
              <a:t> de </a:t>
            </a:r>
            <a:r>
              <a:rPr lang="en-US" sz="2400" b="1" dirty="0" err="1"/>
              <a:t>uso</a:t>
            </a:r>
            <a:endParaRPr lang="en-US" sz="2400" b="1" dirty="0"/>
          </a:p>
          <a:p>
            <a:pPr marL="0" indent="0" algn="just">
              <a:buNone/>
            </a:pPr>
            <a:r>
              <a:rPr lang="es-CL" sz="2400" dirty="0"/>
              <a:t>Es importante tener en cuenta que los diagramas de casos de uso no son apropiados para representar el diseño y que no pueden describir las interioridades de un sistema. Los diagramas de casos de uso sirven para facilitar la comunicación con los futuros usuarios del sistema y con el cliente, y resultan de especial interés para determinar las funciones que debe poseer el sistema. Los diagramas de casos de uso revelan </a:t>
            </a:r>
            <a:r>
              <a:rPr lang="es-CL" sz="2400" i="1" dirty="0"/>
              <a:t>qué</a:t>
            </a:r>
            <a:r>
              <a:rPr lang="es-CL" sz="2400" dirty="0"/>
              <a:t> debe hacer el sistema, pero no (ni pueden especificar) </a:t>
            </a:r>
            <a:r>
              <a:rPr lang="es-CL" sz="2400" i="1" dirty="0"/>
              <a:t>cómo</a:t>
            </a:r>
            <a:r>
              <a:rPr lang="es-CL" sz="2400" dirty="0"/>
              <a:t> deben hacerlo.</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42488317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a:t>
            </a:r>
            <a:r>
              <a:rPr lang="en-US" sz="2400" b="1" dirty="0"/>
              <a:t> de </a:t>
            </a:r>
            <a:r>
              <a:rPr lang="en-US" sz="2400" b="1" dirty="0" err="1"/>
              <a:t>casos</a:t>
            </a:r>
            <a:r>
              <a:rPr lang="en-US" sz="2400" b="1" dirty="0"/>
              <a:t> de </a:t>
            </a:r>
            <a:r>
              <a:rPr lang="en-US" sz="2400" b="1" dirty="0" err="1" smtClean="0"/>
              <a:t>uso</a:t>
            </a:r>
            <a:endParaRPr lang="en-US" sz="2400" b="1"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841932" y="1815343"/>
            <a:ext cx="7190289" cy="3731369"/>
          </a:xfrm>
          <a:prstGeom prst="rect">
            <a:avLst/>
          </a:prstGeom>
        </p:spPr>
      </p:pic>
    </p:spTree>
    <p:extLst>
      <p:ext uri="{BB962C8B-B14F-4D97-AF65-F5344CB8AC3E}">
        <p14:creationId xmlns:p14="http://schemas.microsoft.com/office/powerpoint/2010/main" val="15087541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Caso</a:t>
            </a:r>
            <a:r>
              <a:rPr lang="en-US" sz="2400" b="1" dirty="0"/>
              <a:t> de </a:t>
            </a:r>
            <a:r>
              <a:rPr lang="en-US" sz="2400" b="1" dirty="0" err="1" smtClean="0"/>
              <a:t>uso</a:t>
            </a:r>
            <a:endParaRPr lang="en-US" sz="2400" b="1" dirty="0" smtClean="0"/>
          </a:p>
          <a:p>
            <a:pPr marL="0" indent="0" algn="just">
              <a:buNone/>
            </a:pPr>
            <a:r>
              <a:rPr lang="es-CL" sz="2000" dirty="0"/>
              <a:t>Un </a:t>
            </a:r>
            <a:r>
              <a:rPr lang="es-CL" sz="2000" i="1" dirty="0"/>
              <a:t>caso de uso</a:t>
            </a:r>
            <a:r>
              <a:rPr lang="es-CL" sz="2000" dirty="0"/>
              <a:t> describe (desde el punto de vista de los actores) un grupo de actividades en un sistema que produce un resultado concreto y tangible.</a:t>
            </a:r>
          </a:p>
          <a:p>
            <a:pPr marL="0" indent="0" algn="just">
              <a:buNone/>
            </a:pPr>
            <a:r>
              <a:rPr lang="es-CL" sz="2000" dirty="0"/>
              <a:t>Los casos de uso son descripciones de las interacciones típicas entre los usuarios de un sistema y el mismo sistema. Representan la interfaz externa del sistema y especifican una forma de los requisitos que el sistema debe cumplir (recuerde, solo lo que debe hacer, no cómo debe hacerlo).</a:t>
            </a:r>
          </a:p>
          <a:p>
            <a:pPr marL="0" indent="0" algn="just">
              <a:buNone/>
            </a:pPr>
            <a:r>
              <a:rPr lang="es-CL" sz="2000" dirty="0"/>
              <a:t>Cuando trabaje con casos de uso es importante que recuerde algunas reglas simples:</a:t>
            </a:r>
          </a:p>
          <a:p>
            <a:pPr algn="just"/>
            <a:r>
              <a:rPr lang="es-CL" sz="2000" dirty="0"/>
              <a:t>Cada caso de uso está relacionado con al menos un actor</a:t>
            </a:r>
          </a:p>
          <a:p>
            <a:pPr algn="just"/>
            <a:r>
              <a:rPr lang="es-CL" sz="2000" dirty="0"/>
              <a:t>Cada caso de uso posee un iniciador (es decir, un actor)</a:t>
            </a:r>
          </a:p>
          <a:p>
            <a:pPr algn="just"/>
            <a:r>
              <a:rPr lang="es-CL" sz="2000" dirty="0"/>
              <a:t>Cada caso de uso lleva a un resultado relevante (un resultado con «valor de negocio»)</a:t>
            </a:r>
          </a:p>
          <a:p>
            <a:pPr marL="0" indent="0" algn="just">
              <a:buNone/>
            </a:pPr>
            <a:endParaRPr lang="en-US" sz="2000" b="1" dirty="0"/>
          </a:p>
          <a:p>
            <a:pPr marL="0" indent="0" algn="just">
              <a:buNone/>
            </a:pPr>
            <a:endParaRPr lang="en-US" sz="2000" b="1"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42672160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s-CL" sz="2000" dirty="0" smtClean="0"/>
              <a:t>Los </a:t>
            </a:r>
            <a:r>
              <a:rPr lang="es-CL" sz="2000" dirty="0"/>
              <a:t>casos de uso también pueden tener relaciones con otros casos de uso. Los tres tipos más frecuentes de relaciones entre casos de uso son:</a:t>
            </a:r>
          </a:p>
          <a:p>
            <a:pPr algn="just"/>
            <a:r>
              <a:rPr lang="es-CL" sz="2000" i="1" dirty="0"/>
              <a:t>&lt;&lt;inclusión&gt;&gt;</a:t>
            </a:r>
            <a:r>
              <a:rPr lang="es-CL" sz="2000" dirty="0"/>
              <a:t>, que indica que un caso de uso tiene lugar </a:t>
            </a:r>
            <a:r>
              <a:rPr lang="es-CL" sz="2000" i="1" dirty="0"/>
              <a:t>dentro</a:t>
            </a:r>
            <a:r>
              <a:rPr lang="es-CL" sz="2000" dirty="0"/>
              <a:t> de otro caso de uso.</a:t>
            </a:r>
          </a:p>
          <a:p>
            <a:pPr algn="just"/>
            <a:r>
              <a:rPr lang="es-CL" sz="2000" i="1" dirty="0"/>
              <a:t>&lt;&lt;extensión&gt;&gt;</a:t>
            </a:r>
            <a:r>
              <a:rPr lang="es-CL" sz="2000" dirty="0"/>
              <a:t>, que indica que en cierta situación o en algún punto (denominado punto de extensión), un caso de uso será extendido por otro.</a:t>
            </a:r>
          </a:p>
          <a:p>
            <a:pPr algn="just"/>
            <a:r>
              <a:rPr lang="es-CL" sz="2000" i="1" dirty="0"/>
              <a:t>Generalización</a:t>
            </a:r>
            <a:r>
              <a:rPr lang="es-CL" sz="2000" dirty="0"/>
              <a:t>, que indica que un caso de uso hereda las características de otro «</a:t>
            </a:r>
            <a:r>
              <a:rPr lang="es-CL" sz="2000" dirty="0" err="1"/>
              <a:t>supercaso</a:t>
            </a:r>
            <a:r>
              <a:rPr lang="es-CL" sz="2000" dirty="0"/>
              <a:t> de uso» y puede redefinir algunas de ellas o añadir otras nuevas de un modo similar a la herencia entre clases.</a:t>
            </a:r>
          </a:p>
          <a:p>
            <a:pPr marL="0" indent="0" algn="just">
              <a:buNone/>
            </a:pPr>
            <a:endParaRPr lang="en-US" sz="2000" b="1" dirty="0" smtClean="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0592641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a:t>Diagrama</a:t>
            </a:r>
            <a:r>
              <a:rPr lang="en-US" sz="2400" b="1" dirty="0"/>
              <a:t> de </a:t>
            </a:r>
            <a:r>
              <a:rPr lang="en-US" sz="2400" b="1" dirty="0" err="1"/>
              <a:t>clase</a:t>
            </a:r>
            <a:endParaRPr lang="en-US" sz="2400" b="1" dirty="0"/>
          </a:p>
          <a:p>
            <a:pPr marL="0" indent="0" algn="just">
              <a:buNone/>
            </a:pPr>
            <a:r>
              <a:rPr lang="es-CL" sz="2000" dirty="0"/>
              <a:t>Los diagramas de clase muestran las distintas clases que componen un sistema y cómo se relacionan entre sí. Se dice que los diagramas de clase son «estáticos» porque muestran las clases, junto a sus métodos y atributos, así como las relaciones estáticas entre ellos: qué clases «conocen» a otras clases, o qué clases «son parte» de otra clase, aunque no muestran las llamadas a los métodos entre ellas.</a:t>
            </a:r>
            <a:endParaRPr lang="en-US" sz="2000" b="1" dirty="0"/>
          </a:p>
          <a:p>
            <a:pPr marL="0" indent="0" algn="just">
              <a:buNone/>
            </a:pPr>
            <a:endParaRPr lang="en-US" sz="2000" b="1"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1691680" y="3573016"/>
            <a:ext cx="5564196" cy="2415465"/>
          </a:xfrm>
          <a:prstGeom prst="rect">
            <a:avLst/>
          </a:prstGeom>
        </p:spPr>
      </p:pic>
    </p:spTree>
    <p:extLst>
      <p:ext uri="{BB962C8B-B14F-4D97-AF65-F5344CB8AC3E}">
        <p14:creationId xmlns:p14="http://schemas.microsoft.com/office/powerpoint/2010/main" val="35395310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a:t>Clase</a:t>
            </a:r>
            <a:endParaRPr lang="en-US" sz="2400" b="1" dirty="0"/>
          </a:p>
          <a:p>
            <a:pPr marL="0" indent="0" algn="just">
              <a:buNone/>
            </a:pPr>
            <a:r>
              <a:rPr lang="es-CL" sz="2000" dirty="0"/>
              <a:t>Una clase define los atributos y los métodos de un conjunto de objetos. Todos los objetos de una clase (instancias de la clase) comparten el mismo comportamiento y poseen el mismo conjunto de atributos (cada objeto tiene su propio conjunto). A veces se usa el término «tipo» en lugar de «clase», pero es importante tener presente que no son lo mismo, ya que «tipo» es un término más general.</a:t>
            </a:r>
          </a:p>
          <a:p>
            <a:pPr marL="0" indent="0" algn="just">
              <a:buNone/>
            </a:pPr>
            <a:r>
              <a:rPr lang="es-CL" sz="2000" dirty="0"/>
              <a:t>En UML, las clases se representan por rectángulos con el nombre de la clase, que pueden mostrar los atributos y las operaciones de la clase en dos «compartimentos» dentro del rectángulo</a:t>
            </a: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7171" name="Picture 3" descr="Representación visual de una clase en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4614994"/>
            <a:ext cx="3573148" cy="129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1154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smtClean="0"/>
              <a:t>Atributos</a:t>
            </a:r>
            <a:endParaRPr lang="en-US" sz="2400" b="1" dirty="0"/>
          </a:p>
          <a:p>
            <a:pPr marL="0" indent="0" algn="just">
              <a:buNone/>
            </a:pPr>
            <a:r>
              <a:rPr lang="es-CL" sz="2000" dirty="0"/>
              <a:t>En UML, los atributos se muestran como mínimo con su nombre, aunque también pueden mostrar su tipo, su valor inicial y otras propiedades. Los atributos también se pueden mostrar con su visibilidad:</a:t>
            </a:r>
          </a:p>
          <a:p>
            <a:pPr marL="0" indent="0" algn="just">
              <a:buNone/>
            </a:pPr>
            <a:endParaRPr lang="es-CL" sz="2000" dirty="0"/>
          </a:p>
          <a:p>
            <a:pPr algn="just"/>
            <a:r>
              <a:rPr lang="es-CL" sz="2000" dirty="0"/>
              <a:t>+ representa atributos </a:t>
            </a:r>
            <a:r>
              <a:rPr lang="es-CL" sz="2000" dirty="0" smtClean="0"/>
              <a:t>públicos</a:t>
            </a:r>
            <a:endParaRPr lang="es-CL" sz="2000" dirty="0"/>
          </a:p>
          <a:p>
            <a:pPr algn="just"/>
            <a:r>
              <a:rPr lang="es-CL" sz="2000" dirty="0"/>
              <a:t># representa atributos </a:t>
            </a:r>
            <a:r>
              <a:rPr lang="es-CL" sz="2000" dirty="0" smtClean="0"/>
              <a:t>protegidos</a:t>
            </a:r>
            <a:endParaRPr lang="es-CL" sz="2000" dirty="0"/>
          </a:p>
          <a:p>
            <a:pPr algn="just"/>
            <a:r>
              <a:rPr lang="es-CL" sz="2000" dirty="0"/>
              <a:t>- representa atributos privados</a:t>
            </a: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6516929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smtClean="0"/>
              <a:t>Operaciones</a:t>
            </a:r>
            <a:endParaRPr lang="en-US" sz="2400" b="1" dirty="0"/>
          </a:p>
          <a:p>
            <a:pPr marL="0" indent="0" algn="just">
              <a:buNone/>
            </a:pPr>
            <a:r>
              <a:rPr lang="es-CL" sz="2000" dirty="0"/>
              <a:t>Las operaciones (métodos) también se muestran como mínimo con su nombre, aunque pueden mostrar también sus parámetros y los tipos que devuelven. Las operaciones pueden, al igual que los atributos, mostrar su visibilidad:</a:t>
            </a:r>
          </a:p>
          <a:p>
            <a:pPr marL="0" indent="0" algn="just">
              <a:buNone/>
            </a:pPr>
            <a:endParaRPr lang="es-CL" sz="2000" dirty="0"/>
          </a:p>
          <a:p>
            <a:pPr algn="just"/>
            <a:r>
              <a:rPr lang="es-CL" sz="2000" dirty="0"/>
              <a:t>+ representa operaciones públicas</a:t>
            </a:r>
          </a:p>
          <a:p>
            <a:pPr algn="just"/>
            <a:r>
              <a:rPr lang="es-CL" sz="2000" dirty="0" smtClean="0"/>
              <a:t># </a:t>
            </a:r>
            <a:r>
              <a:rPr lang="es-CL" sz="2000" dirty="0"/>
              <a:t>representa operaciones </a:t>
            </a:r>
            <a:r>
              <a:rPr lang="es-CL" sz="2000" dirty="0" smtClean="0"/>
              <a:t>protegidas</a:t>
            </a:r>
            <a:endParaRPr lang="es-CL" sz="2000" dirty="0"/>
          </a:p>
          <a:p>
            <a:pPr algn="just"/>
            <a:r>
              <a:rPr lang="es-CL" sz="2000" dirty="0"/>
              <a:t>- representa operaciones privadas</a:t>
            </a: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7669726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a:t>Asociaciones</a:t>
            </a:r>
            <a:r>
              <a:rPr lang="en-US" sz="2400" b="1" dirty="0"/>
              <a:t> de </a:t>
            </a:r>
            <a:r>
              <a:rPr lang="en-US" sz="2400" b="1" dirty="0" err="1" smtClean="0"/>
              <a:t>clases</a:t>
            </a:r>
            <a:endParaRPr lang="en-US" sz="2400" b="1" dirty="0"/>
          </a:p>
          <a:p>
            <a:pPr marL="0" indent="0" algn="just">
              <a:buNone/>
            </a:pPr>
            <a:r>
              <a:rPr lang="es-CL" sz="2000" dirty="0"/>
              <a:t>Las clases se pueden relacionar (estar asociadas) con otras de diferentes modos</a:t>
            </a:r>
            <a:r>
              <a:rPr lang="es-CL" sz="2000" dirty="0" smtClean="0"/>
              <a:t>:</a:t>
            </a:r>
          </a:p>
          <a:p>
            <a:pPr algn="just"/>
            <a:r>
              <a:rPr lang="en-US" sz="2000" b="1" dirty="0" err="1" smtClean="0"/>
              <a:t>Generalización</a:t>
            </a:r>
            <a:endParaRPr lang="en-US" sz="2000" b="1" dirty="0" smtClean="0"/>
          </a:p>
          <a:p>
            <a:pPr marL="0" indent="0" algn="just">
              <a:buNone/>
            </a:pPr>
            <a:r>
              <a:rPr lang="es-CL" sz="2000" dirty="0" smtClean="0"/>
              <a:t>	</a:t>
            </a:r>
            <a:r>
              <a:rPr lang="es-CL" sz="1800" dirty="0" smtClean="0"/>
              <a:t>La </a:t>
            </a:r>
            <a:r>
              <a:rPr lang="es-CL" sz="1800" dirty="0"/>
              <a:t>herencia es uno de los conceptos fundamentales de la programación </a:t>
            </a:r>
            <a:r>
              <a:rPr lang="es-CL" sz="1800" dirty="0" smtClean="0"/>
              <a:t>	orientada </a:t>
            </a:r>
            <a:r>
              <a:rPr lang="es-CL" sz="1800" dirty="0"/>
              <a:t>a objetos, en la que una clase «gana» todos los atributos y las </a:t>
            </a:r>
            <a:r>
              <a:rPr lang="es-CL" sz="1800" dirty="0" smtClean="0"/>
              <a:t>	operaciones </a:t>
            </a:r>
            <a:r>
              <a:rPr lang="es-CL" sz="1800" dirty="0"/>
              <a:t>de la clase de la que hereda, y puede redefinir o modificar </a:t>
            </a:r>
            <a:r>
              <a:rPr lang="es-CL" sz="1800" dirty="0" smtClean="0"/>
              <a:t>	algunos 	de </a:t>
            </a:r>
            <a:r>
              <a:rPr lang="es-CL" sz="1800" dirty="0"/>
              <a:t>ellos, así como añadir más atributos y operaciones propios.</a:t>
            </a:r>
          </a:p>
          <a:p>
            <a:pPr marL="0" indent="0" algn="just">
              <a:buNone/>
            </a:pPr>
            <a:r>
              <a:rPr lang="es-CL" sz="1800" dirty="0"/>
              <a:t>	</a:t>
            </a:r>
            <a:r>
              <a:rPr lang="es-CL" sz="1800" dirty="0" smtClean="0"/>
              <a:t>En </a:t>
            </a:r>
            <a:r>
              <a:rPr lang="es-CL" sz="1800" dirty="0"/>
              <a:t>UML, una asociación de generalización entre dos clases las coloca en </a:t>
            </a:r>
            <a:r>
              <a:rPr lang="es-CL" sz="1800" dirty="0" smtClean="0"/>
              <a:t>	una 	jerarquía </a:t>
            </a:r>
            <a:r>
              <a:rPr lang="es-CL" sz="1800" dirty="0"/>
              <a:t>que representa el concepto de herencia de una clase </a:t>
            </a:r>
            <a:r>
              <a:rPr lang="es-CL" sz="1800" dirty="0" smtClean="0"/>
              <a:t>	derivada </a:t>
            </a:r>
            <a:r>
              <a:rPr lang="es-CL" sz="1800" dirty="0"/>
              <a:t>a partir </a:t>
            </a:r>
            <a:r>
              <a:rPr lang="es-CL" sz="1800" dirty="0" smtClean="0"/>
              <a:t>	de </a:t>
            </a:r>
            <a:r>
              <a:rPr lang="es-CL" sz="1800" dirty="0"/>
              <a:t>una clase base. </a:t>
            </a:r>
            <a:endParaRPr lang="en-US" sz="1800" dirty="0"/>
          </a:p>
          <a:p>
            <a:pPr marL="0" indent="0" algn="just">
              <a:buNone/>
            </a:pP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16387" name="Picture 3" descr="Representación visual de una generalización en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4102" y="4581127"/>
            <a:ext cx="1149906" cy="1463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1377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n-US" sz="2000" b="1" dirty="0" err="1" smtClean="0"/>
              <a:t>Asociaciones</a:t>
            </a:r>
            <a:endParaRPr lang="en-US" sz="2000" b="1" dirty="0" smtClean="0"/>
          </a:p>
          <a:p>
            <a:pPr marL="0" indent="0">
              <a:buNone/>
            </a:pPr>
            <a:r>
              <a:rPr lang="es-CL" sz="2000" dirty="0"/>
              <a:t>	</a:t>
            </a:r>
            <a:r>
              <a:rPr lang="es-CL" sz="1800" dirty="0" smtClean="0"/>
              <a:t>Una </a:t>
            </a:r>
            <a:r>
              <a:rPr lang="es-CL" sz="1800" dirty="0"/>
              <a:t>asociación representa una relación entre clases, y proporciona la semántica y </a:t>
            </a:r>
            <a:r>
              <a:rPr lang="es-CL" sz="1800" dirty="0" smtClean="0"/>
              <a:t>	estructura </a:t>
            </a:r>
            <a:r>
              <a:rPr lang="es-CL" sz="1800" dirty="0"/>
              <a:t>común para muchos tipos de «conexiones» entre objetos.</a:t>
            </a:r>
          </a:p>
          <a:p>
            <a:pPr marL="0" indent="0">
              <a:buNone/>
            </a:pPr>
            <a:r>
              <a:rPr lang="es-CL" sz="1800" dirty="0" smtClean="0"/>
              <a:t>	Las </a:t>
            </a:r>
            <a:r>
              <a:rPr lang="es-CL" sz="1800" dirty="0"/>
              <a:t>asociaciones son el mecanismo que permite que los objetos se comuniquen </a:t>
            </a:r>
            <a:r>
              <a:rPr lang="es-CL" sz="1800" dirty="0" smtClean="0"/>
              <a:t>	entre </a:t>
            </a:r>
            <a:r>
              <a:rPr lang="es-CL" sz="1800" dirty="0"/>
              <a:t>sí. Describe la conexión entre diferentes clases (la conexión entre objetos </a:t>
            </a:r>
            <a:r>
              <a:rPr lang="es-CL" sz="1800" dirty="0" smtClean="0"/>
              <a:t>	reales </a:t>
            </a:r>
            <a:r>
              <a:rPr lang="es-CL" sz="1800" dirty="0"/>
              <a:t>se denomina «conexión de objetos» o </a:t>
            </a:r>
            <a:r>
              <a:rPr lang="es-CL" sz="1800" i="1" dirty="0"/>
              <a:t>enlace</a:t>
            </a:r>
            <a:r>
              <a:rPr lang="es-CL" sz="1800" dirty="0"/>
              <a:t>).</a:t>
            </a:r>
          </a:p>
          <a:p>
            <a:pPr marL="0" indent="0" algn="just">
              <a:buNone/>
            </a:pP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18434" name="Picture 2" descr="Representación visual de una asociación en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4797152"/>
            <a:ext cx="4049934" cy="70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4559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n-US" sz="2000" b="1" dirty="0" err="1" smtClean="0"/>
              <a:t>Agregación</a:t>
            </a:r>
            <a:endParaRPr lang="en-US" sz="2000" b="1" dirty="0" smtClean="0"/>
          </a:p>
          <a:p>
            <a:pPr marL="0" indent="0" algn="just">
              <a:buNone/>
            </a:pPr>
            <a:r>
              <a:rPr lang="es-CL" sz="2000" dirty="0"/>
              <a:t>	</a:t>
            </a:r>
            <a:r>
              <a:rPr lang="es-CL" sz="1800" dirty="0"/>
              <a:t>Una agregación es un tipo especial de asociación en la que las dos clases </a:t>
            </a:r>
            <a:r>
              <a:rPr lang="es-CL" sz="1800" dirty="0" smtClean="0"/>
              <a:t>	participantes no poseen un estado de igualdad, aunque forman una relación 	«completa». Una agregación describe cómo la clase que tiene el papel del todo 	se compone de otras clases (las posee), que tienen el papel de las partes. Para las 	agregaciones, las clases que actúan como el todo siempre tienen una 	multiplicidad de uno.</a:t>
            </a: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19458" name="Picture 2" descr="Representación visual de una relación de agregación en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4797152"/>
            <a:ext cx="3443393" cy="583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0108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algn="just"/>
            <a:r>
              <a:rPr lang="en-US" sz="2000" b="1" dirty="0" err="1" smtClean="0"/>
              <a:t>Composición</a:t>
            </a:r>
            <a:endParaRPr lang="en-US" sz="2000" b="1" dirty="0" smtClean="0"/>
          </a:p>
          <a:p>
            <a:pPr marL="0" indent="0" algn="just">
              <a:buNone/>
            </a:pPr>
            <a:r>
              <a:rPr lang="es-CL" sz="2000" dirty="0"/>
              <a:t>	</a:t>
            </a:r>
            <a:r>
              <a:rPr lang="es-CL" sz="1800" dirty="0"/>
              <a:t>Las composiciones son asociaciones que representan agregaciones </a:t>
            </a:r>
            <a:r>
              <a:rPr lang="es-CL" sz="1800" i="1" dirty="0"/>
              <a:t>muy fuertes</a:t>
            </a:r>
            <a:r>
              <a:rPr lang="es-CL" sz="1800" dirty="0"/>
              <a:t>. </a:t>
            </a:r>
            <a:r>
              <a:rPr lang="es-CL" sz="1800" dirty="0" smtClean="0"/>
              <a:t>	Esto </a:t>
            </a:r>
            <a:r>
              <a:rPr lang="es-CL" sz="1800" dirty="0"/>
              <a:t>significa que las composiciones también forman relaciones todo-parte, </a:t>
            </a:r>
            <a:r>
              <a:rPr lang="es-CL" sz="1800" dirty="0" smtClean="0"/>
              <a:t>	aunque </a:t>
            </a:r>
            <a:r>
              <a:rPr lang="es-CL" sz="1800" dirty="0"/>
              <a:t>la relación es tan fuerte que las partes no pueden existir por sí mismas: </a:t>
            </a:r>
            <a:r>
              <a:rPr lang="es-CL" sz="1800" dirty="0" smtClean="0"/>
              <a:t>	solo </a:t>
            </a:r>
            <a:r>
              <a:rPr lang="es-CL" sz="1800" dirty="0"/>
              <a:t>pueden existir dentro del todo y, si el todo se destruye, las partes también se </a:t>
            </a:r>
            <a:r>
              <a:rPr lang="es-CL" sz="1800" dirty="0" smtClean="0"/>
              <a:t>	destruirían</a:t>
            </a:r>
            <a:r>
              <a:rPr lang="es-CL" sz="1800" dirty="0"/>
              <a:t>.</a:t>
            </a:r>
            <a:endParaRPr lang="en-US"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0482" name="Picture 2" descr="Representación visual de una relación de composición en 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869160"/>
            <a:ext cx="3813599" cy="564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3526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Diagramas</a:t>
            </a:r>
            <a:r>
              <a:rPr lang="en-US" sz="2400" b="1" dirty="0"/>
              <a:t> de </a:t>
            </a:r>
            <a:r>
              <a:rPr lang="en-US" sz="2400" b="1" dirty="0" err="1"/>
              <a:t>secuencia</a:t>
            </a:r>
            <a:endParaRPr lang="en-US" sz="2400" b="1" dirty="0"/>
          </a:p>
          <a:p>
            <a:pPr marL="0" indent="0" algn="just">
              <a:buNone/>
            </a:pPr>
            <a:r>
              <a:rPr lang="es-CL" sz="2000" dirty="0"/>
              <a:t>Los diagramas de secuencia muestran el intercambio de mensajes (es decir, llamadas a métodos) entre varios objetos en una situación específica delimitada por un tiempo. Los objetos son instancias de clases. Los diagramas de secuencia ponen especial énfasis en el orden y en las veces que se envían mensajes a los objetos.</a:t>
            </a:r>
          </a:p>
          <a:p>
            <a:pPr marL="0" indent="0" algn="just">
              <a:buNone/>
            </a:pPr>
            <a:r>
              <a:rPr lang="es-CL" sz="2000" dirty="0"/>
              <a:t>En los diagramas de secuencia, los objetos se representan mediante líneas discontinuas verticales con el nombre de los objetos en la parte superior. El eje del tiempo también es vertical, incrementándose hacia abajo, de modo que los mensajes se envían de un objeto a otro en forma de flechas, con el nombre de la operación y los parámetros</a:t>
            </a:r>
            <a:r>
              <a:rPr lang="es-CL" sz="2000" dirty="0" smtClean="0"/>
              <a:t>.</a:t>
            </a:r>
            <a:endParaRPr lang="es-CL"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5467057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Diagramas</a:t>
            </a:r>
            <a:r>
              <a:rPr lang="en-US" sz="2400" b="1" dirty="0"/>
              <a:t> de </a:t>
            </a:r>
            <a:r>
              <a:rPr lang="en-US" sz="2400" b="1" dirty="0" err="1" smtClean="0"/>
              <a:t>secuencia</a:t>
            </a:r>
            <a:endParaRPr lang="en-US" sz="2400" b="1" dirty="0" smtClean="0"/>
          </a:p>
          <a:p>
            <a:pPr marL="0" indent="0" algn="just">
              <a:buNone/>
            </a:pPr>
            <a:endParaRPr lang="es-ES" sz="2400" b="1" dirty="0"/>
          </a:p>
          <a:p>
            <a:pPr marL="0" indent="0" algn="just">
              <a:buNone/>
            </a:pPr>
            <a:endParaRPr lang="es-ES" sz="2400" b="1" dirty="0" smtClean="0"/>
          </a:p>
          <a:p>
            <a:pPr marL="0" indent="0" algn="just">
              <a:buNone/>
            </a:pPr>
            <a:endParaRPr lang="es-ES" sz="2400" b="1" dirty="0"/>
          </a:p>
          <a:p>
            <a:pPr marL="0" indent="0" algn="just">
              <a:buNone/>
            </a:pPr>
            <a:endParaRPr lang="es-ES" sz="2400" b="1" dirty="0" smtClean="0"/>
          </a:p>
          <a:p>
            <a:pPr marL="0" indent="0" algn="just">
              <a:buNone/>
            </a:pPr>
            <a:endParaRPr lang="es-ES" sz="2400" b="1" dirty="0"/>
          </a:p>
          <a:p>
            <a:pPr marL="0" indent="0" algn="just">
              <a:buNone/>
            </a:pPr>
            <a:endParaRPr lang="es-ES" sz="2400" b="1" dirty="0" smtClean="0"/>
          </a:p>
          <a:p>
            <a:pPr marL="0" indent="0" algn="just">
              <a:buNone/>
            </a:pPr>
            <a:endParaRPr lang="es-CL" sz="1800" dirty="0" smtClean="0"/>
          </a:p>
          <a:p>
            <a:pPr marL="0" indent="0" algn="just">
              <a:buNone/>
            </a:pPr>
            <a:r>
              <a:rPr lang="es-CL" sz="1800" dirty="0" smtClean="0"/>
              <a:t>Los </a:t>
            </a:r>
            <a:r>
              <a:rPr lang="es-CL" sz="1800" dirty="0"/>
              <a:t>mensajes pueden ser sincrónicos, el tipo normal de llamada de mensaje donde el control se pasa al objeto llamado hasta que dicho método haya terminado su ejecución, o asincrónicos, donde el control se devuelve directamente al objeto que realiza la llamada. Los mensajes sincrónicos disponen de un rectángulo vertical en el lado del objeto llamado para mostrar el flujo del control del programa.</a:t>
            </a:r>
            <a:endParaRPr lang="es-ES" sz="1800" b="1" dirty="0" smtClean="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1259632" y="1772816"/>
            <a:ext cx="6512488" cy="2880320"/>
          </a:xfrm>
          <a:prstGeom prst="rect">
            <a:avLst/>
          </a:prstGeom>
        </p:spPr>
      </p:pic>
    </p:spTree>
    <p:extLst>
      <p:ext uri="{BB962C8B-B14F-4D97-AF65-F5344CB8AC3E}">
        <p14:creationId xmlns:p14="http://schemas.microsoft.com/office/powerpoint/2010/main" val="5586489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Diagramas</a:t>
            </a:r>
            <a:r>
              <a:rPr lang="en-US" sz="2400" b="1" dirty="0"/>
              <a:t> de </a:t>
            </a:r>
            <a:r>
              <a:rPr lang="en-US" sz="2400" b="1" dirty="0" err="1" smtClean="0"/>
              <a:t>colaboración</a:t>
            </a:r>
            <a:endParaRPr lang="en-US" sz="2400" b="1" dirty="0"/>
          </a:p>
          <a:p>
            <a:pPr marL="0" indent="0" algn="just">
              <a:buNone/>
            </a:pPr>
            <a:r>
              <a:rPr lang="es-CL" sz="2000" dirty="0"/>
              <a:t>Los diagramas de colaboración muestran las interacciones que ocurren entre los objetos que participan en una determinada situación. Esta es más o menos la misma información que muestran los diagramas de secuencia, aunque en ellos el énfasis recae en cómo ocurren las interacciones con el paso del tiempo, mientras que los diagramas de colaboración ponen de relieve las relaciones entre los objetos y su topología</a:t>
            </a:r>
            <a:r>
              <a:rPr lang="es-CL" sz="2000" dirty="0" smtClean="0"/>
              <a:t>.</a:t>
            </a:r>
          </a:p>
          <a:p>
            <a:pPr marL="0" indent="0" algn="just">
              <a:buNone/>
            </a:pPr>
            <a:endParaRPr lang="es-CL" sz="2000" dirty="0" smtClean="0"/>
          </a:p>
          <a:p>
            <a:pPr marL="0" indent="0" algn="just">
              <a:buNone/>
            </a:pPr>
            <a:r>
              <a:rPr lang="es-CL" sz="2000" dirty="0"/>
              <a:t>En los diagramas de colaboración, los mensajes enviados de un objeto a otro se representan mediante flechas que muestran el nombre del mensaje, sus parámetros y su secuencia. Los diagramas de colaboración son apropiados para mostrar el flujo específico de un programa o de una situación y son uno de los mejores tipos de diagramas para mostrar o explicar rápidamente un proceso con la lógica del programa.</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29854363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Diagramas</a:t>
            </a:r>
            <a:r>
              <a:rPr lang="en-US" sz="2400" b="1" dirty="0"/>
              <a:t> de </a:t>
            </a:r>
            <a:r>
              <a:rPr lang="en-US" sz="2400" b="1" dirty="0" err="1" smtClean="0"/>
              <a:t>colaboración</a:t>
            </a:r>
            <a:endParaRPr lang="en-US" sz="2400" b="1"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827584" y="1988840"/>
            <a:ext cx="7136968" cy="3498317"/>
          </a:xfrm>
          <a:prstGeom prst="rect">
            <a:avLst/>
          </a:prstGeom>
        </p:spPr>
      </p:pic>
    </p:spTree>
    <p:extLst>
      <p:ext uri="{BB962C8B-B14F-4D97-AF65-F5344CB8AC3E}">
        <p14:creationId xmlns:p14="http://schemas.microsoft.com/office/powerpoint/2010/main" val="11693122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a:t>
            </a:r>
            <a:r>
              <a:rPr lang="en-US" sz="2400" b="1" dirty="0"/>
              <a:t> de </a:t>
            </a:r>
            <a:r>
              <a:rPr lang="en-US" sz="2400" b="1" dirty="0" err="1" smtClean="0"/>
              <a:t>estados</a:t>
            </a:r>
            <a:endParaRPr lang="en-US" sz="2400" b="1" dirty="0" smtClean="0"/>
          </a:p>
          <a:p>
            <a:pPr marL="0" indent="0" algn="just">
              <a:buNone/>
            </a:pPr>
            <a:r>
              <a:rPr lang="es-CL" sz="2000" dirty="0"/>
              <a:t>Los diagramas de estados muestran los diferentes estados de un objeto durante su vida y los estímulos que hacen que el objeto cambie su estado</a:t>
            </a:r>
            <a:r>
              <a:rPr lang="es-CL" sz="2000" dirty="0" smtClean="0"/>
              <a:t>.</a:t>
            </a:r>
          </a:p>
          <a:p>
            <a:pPr marL="0" indent="0" algn="just">
              <a:buNone/>
            </a:pPr>
            <a:endParaRPr lang="es-CL" sz="2000" dirty="0"/>
          </a:p>
          <a:p>
            <a:pPr marL="0" indent="0" algn="just">
              <a:buNone/>
            </a:pPr>
            <a:r>
              <a:rPr lang="es-CL" sz="2000" dirty="0"/>
              <a:t>Los diagramas de estados ven los objetos como </a:t>
            </a:r>
            <a:r>
              <a:rPr lang="es-CL" sz="2000" i="1" dirty="0"/>
              <a:t>máquinas de estados</a:t>
            </a:r>
            <a:r>
              <a:rPr lang="es-CL" sz="2000" dirty="0"/>
              <a:t> o autómatas finitos que pueden estar en uno de un conjunto finito de estados y que pueden cambiar su estado mediante uno de un conjunto finito de estímulos. Por ejemplo, un objeto de tipo </a:t>
            </a:r>
            <a:r>
              <a:rPr lang="es-CL" sz="2000" i="1" dirty="0" err="1"/>
              <a:t>ServidorDeRed</a:t>
            </a:r>
            <a:r>
              <a:rPr lang="es-CL" sz="2000" dirty="0"/>
              <a:t> puede estar en uno de los siguientes estados durante su vida</a:t>
            </a:r>
            <a:r>
              <a:rPr lang="es-CL" sz="2000" dirty="0" smtClean="0"/>
              <a:t>:</a:t>
            </a:r>
            <a:endParaRPr lang="es-CL" sz="2000" dirty="0"/>
          </a:p>
          <a:p>
            <a:pPr marL="627063" indent="-271463" algn="just"/>
            <a:r>
              <a:rPr lang="es-CL" sz="2000" dirty="0"/>
              <a:t>Preparado</a:t>
            </a:r>
          </a:p>
          <a:p>
            <a:pPr marL="627063" indent="-271463" algn="just"/>
            <a:r>
              <a:rPr lang="es-CL" sz="2000" dirty="0"/>
              <a:t>A la escucha</a:t>
            </a:r>
          </a:p>
          <a:p>
            <a:pPr marL="627063" indent="-271463" algn="just"/>
            <a:r>
              <a:rPr lang="es-CL" sz="2000" dirty="0"/>
              <a:t>Trabajando</a:t>
            </a:r>
          </a:p>
          <a:p>
            <a:pPr marL="627063" indent="-271463" algn="just"/>
            <a:r>
              <a:rPr lang="es-CL" sz="2000" dirty="0" smtClean="0"/>
              <a:t>Detenido</a:t>
            </a:r>
            <a:endParaRPr lang="es-CL" sz="2000"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2153323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a:t>
            </a:r>
            <a:r>
              <a:rPr lang="en-US" sz="2400" b="1" dirty="0"/>
              <a:t> de </a:t>
            </a:r>
            <a:r>
              <a:rPr lang="en-US" sz="2400" b="1" dirty="0" err="1" smtClean="0"/>
              <a:t>estados</a:t>
            </a:r>
            <a:endParaRPr lang="en-US" sz="2400" b="1" dirty="0" smtClean="0"/>
          </a:p>
          <a:p>
            <a:pPr marL="0" indent="0">
              <a:buNone/>
            </a:pPr>
            <a:r>
              <a:rPr lang="es-CL" sz="2000" dirty="0" smtClean="0"/>
              <a:t>Y </a:t>
            </a:r>
            <a:r>
              <a:rPr lang="es-CL" sz="2000" dirty="0"/>
              <a:t>los eventos que pueden hacer que el objeto cambie de estado son</a:t>
            </a:r>
          </a:p>
          <a:p>
            <a:r>
              <a:rPr lang="es-CL" sz="2000" dirty="0"/>
              <a:t>El objeto se ha creado</a:t>
            </a:r>
          </a:p>
          <a:p>
            <a:r>
              <a:rPr lang="es-CL" sz="2000" dirty="0"/>
              <a:t>El objeto recibe un mensaje de escucha</a:t>
            </a:r>
          </a:p>
          <a:p>
            <a:r>
              <a:rPr lang="es-CL" sz="2000" dirty="0"/>
              <a:t>Un cliente solicita una conexión a través de la red</a:t>
            </a:r>
          </a:p>
          <a:p>
            <a:r>
              <a:rPr lang="es-CL" sz="2000" dirty="0"/>
              <a:t>Un cliente termina una petición</a:t>
            </a:r>
          </a:p>
          <a:p>
            <a:r>
              <a:rPr lang="es-CL" sz="2000" dirty="0"/>
              <a:t>La petición se ejecuta y termina</a:t>
            </a:r>
          </a:p>
          <a:p>
            <a:r>
              <a:rPr lang="es-CL" sz="2000" dirty="0"/>
              <a:t>El objeto recibe un mensaje de detención</a:t>
            </a:r>
          </a:p>
          <a:p>
            <a:r>
              <a:rPr lang="es-CL" sz="2000" dirty="0"/>
              <a:t>etc.</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6917177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a:t>Diagrama</a:t>
            </a:r>
            <a:r>
              <a:rPr lang="en-US" sz="2400" b="1" dirty="0"/>
              <a:t> de </a:t>
            </a:r>
            <a:r>
              <a:rPr lang="en-US" sz="2400" b="1" dirty="0" err="1" smtClean="0"/>
              <a:t>estados</a:t>
            </a:r>
            <a:endParaRPr lang="en-US" sz="2400" b="1" dirty="0" smtClean="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2335311" y="1675829"/>
            <a:ext cx="4203532" cy="4010397"/>
          </a:xfrm>
          <a:prstGeom prst="rect">
            <a:avLst/>
          </a:prstGeom>
        </p:spPr>
      </p:pic>
    </p:spTree>
    <p:extLst>
      <p:ext uri="{BB962C8B-B14F-4D97-AF65-F5344CB8AC3E}">
        <p14:creationId xmlns:p14="http://schemas.microsoft.com/office/powerpoint/2010/main" val="4645643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smtClean="0"/>
              <a:t>Diagrama</a:t>
            </a:r>
            <a:r>
              <a:rPr lang="en-US" sz="2400" b="1" dirty="0" smtClean="0"/>
              <a:t> </a:t>
            </a:r>
            <a:r>
              <a:rPr lang="en-US" sz="2400" b="1" dirty="0"/>
              <a:t>de </a:t>
            </a:r>
            <a:r>
              <a:rPr lang="en-US" sz="2400" b="1" dirty="0" err="1"/>
              <a:t>actividades</a:t>
            </a:r>
            <a:endParaRPr lang="en-US" sz="2400" b="1" dirty="0"/>
          </a:p>
          <a:p>
            <a:pPr marL="0" indent="0" algn="just">
              <a:buNone/>
            </a:pPr>
            <a:r>
              <a:rPr lang="es-CL" sz="2000" dirty="0"/>
              <a:t>Los diagramas de actividades describen la secuencia de actividades de un sistema con la ayuda de actividades. Los diagramas de actividades son una forma especial de los diagramas de estados que solo (o principalmente) contienen actividades.</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305772262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buNone/>
            </a:pPr>
            <a:r>
              <a:rPr lang="en-US" sz="2400" b="1" dirty="0" err="1" smtClean="0"/>
              <a:t>Diagrama</a:t>
            </a:r>
            <a:r>
              <a:rPr lang="en-US" sz="2400" b="1" dirty="0" smtClean="0"/>
              <a:t> </a:t>
            </a:r>
            <a:r>
              <a:rPr lang="en-US" sz="2400" b="1" dirty="0"/>
              <a:t>de </a:t>
            </a:r>
            <a:r>
              <a:rPr lang="en-US" sz="2400" b="1" dirty="0" err="1" smtClean="0"/>
              <a:t>actividades</a:t>
            </a:r>
            <a:endParaRPr lang="en-US" sz="2400" b="1" dirty="0"/>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pic>
        <p:nvPicPr>
          <p:cNvPr id="2" name="Imagen 1"/>
          <p:cNvPicPr>
            <a:picLocks noChangeAspect="1"/>
          </p:cNvPicPr>
          <p:nvPr/>
        </p:nvPicPr>
        <p:blipFill>
          <a:blip r:embed="rId3"/>
          <a:stretch>
            <a:fillRect/>
          </a:stretch>
        </p:blipFill>
        <p:spPr>
          <a:xfrm>
            <a:off x="2350327" y="1700809"/>
            <a:ext cx="4369029" cy="4257480"/>
          </a:xfrm>
          <a:prstGeom prst="rect">
            <a:avLst/>
          </a:prstGeom>
        </p:spPr>
      </p:pic>
    </p:spTree>
    <p:extLst>
      <p:ext uri="{BB962C8B-B14F-4D97-AF65-F5344CB8AC3E}">
        <p14:creationId xmlns:p14="http://schemas.microsoft.com/office/powerpoint/2010/main" val="37511028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824536"/>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n-US" sz="2400" b="1" dirty="0" err="1" smtClean="0"/>
              <a:t>Diagrama</a:t>
            </a:r>
            <a:r>
              <a:rPr lang="en-US" sz="2400" b="1" dirty="0" smtClean="0"/>
              <a:t> </a:t>
            </a:r>
            <a:r>
              <a:rPr lang="en-US" sz="2400" b="1" dirty="0"/>
              <a:t>de </a:t>
            </a:r>
            <a:r>
              <a:rPr lang="en-US" sz="2400" b="1" dirty="0" err="1"/>
              <a:t>actividades</a:t>
            </a:r>
            <a:endParaRPr lang="en-US" sz="2400" b="1" dirty="0"/>
          </a:p>
          <a:p>
            <a:pPr marL="0" indent="0" algn="just">
              <a:buNone/>
            </a:pPr>
            <a:r>
              <a:rPr lang="es-CL" sz="2000" dirty="0"/>
              <a:t>Los diagramas de actividades son similares a los diagramas procedimentales de flujo, con la diferencia de que todas las actividades están claramente conectadas con los objetos.</a:t>
            </a:r>
          </a:p>
          <a:p>
            <a:pPr marL="0" indent="0" algn="just">
              <a:buNone/>
            </a:pPr>
            <a:r>
              <a:rPr lang="es-CL" sz="2000" dirty="0"/>
              <a:t>Los diagramas de actividades están siempre asociados a una </a:t>
            </a:r>
            <a:r>
              <a:rPr lang="es-CL" sz="2000" i="1" dirty="0"/>
              <a:t>clase</a:t>
            </a:r>
            <a:r>
              <a:rPr lang="es-CL" sz="2000" dirty="0"/>
              <a:t>, a una </a:t>
            </a:r>
            <a:r>
              <a:rPr lang="es-CL" sz="2000" i="1" dirty="0"/>
              <a:t>operación</a:t>
            </a:r>
            <a:r>
              <a:rPr lang="es-CL" sz="2000" dirty="0"/>
              <a:t> o a un </a:t>
            </a:r>
            <a:r>
              <a:rPr lang="es-CL" sz="2000" i="1" dirty="0"/>
              <a:t>caso de uso</a:t>
            </a:r>
            <a:r>
              <a:rPr lang="es-CL" sz="2000" dirty="0"/>
              <a:t>.</a:t>
            </a:r>
          </a:p>
        </p:txBody>
      </p:sp>
      <p:grpSp>
        <p:nvGrpSpPr>
          <p:cNvPr id="7" name="Grupo 6"/>
          <p:cNvGrpSpPr/>
          <p:nvPr/>
        </p:nvGrpSpPr>
        <p:grpSpPr>
          <a:xfrm>
            <a:off x="319482" y="385500"/>
            <a:ext cx="7132838"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800" b="1" dirty="0"/>
                <a:t>TIPOS DE DIAGRAMAS EN </a:t>
              </a:r>
              <a:r>
                <a:rPr lang="es-CL" sz="2800" b="1" dirty="0" smtClean="0"/>
                <a:t>UML</a:t>
              </a:r>
              <a:endParaRPr lang="en-US" sz="2800" b="1" dirty="0"/>
            </a:p>
          </p:txBody>
        </p:sp>
      </p:grpSp>
    </p:spTree>
    <p:extLst>
      <p:ext uri="{BB962C8B-B14F-4D97-AF65-F5344CB8AC3E}">
        <p14:creationId xmlns:p14="http://schemas.microsoft.com/office/powerpoint/2010/main" val="14518776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texto"/>
          <p:cNvSpPr>
            <a:spLocks noGrp="1"/>
          </p:cNvSpPr>
          <p:nvPr>
            <p:ph type="body" idx="1"/>
          </p:nvPr>
        </p:nvSpPr>
        <p:spPr>
          <a:xfrm>
            <a:off x="323528" y="1784664"/>
            <a:ext cx="8208912" cy="3625608"/>
          </a:xfrm>
          <a:prstGeom prst="rect">
            <a:avLst/>
          </a:prstGeom>
        </p:spPr>
        <p:txBody>
          <a:bodyPr wrap="square">
            <a:spAutoFit/>
          </a:bodyPr>
          <a:lstStyle/>
          <a:p>
            <a:pPr algn="ctr"/>
            <a:endParaRPr lang="es-CL" sz="2800" b="1" dirty="0" smtClean="0">
              <a:latin typeface="Calibri" pitchFamily="34" charset="0"/>
            </a:endParaRPr>
          </a:p>
          <a:p>
            <a:pPr algn="ctr"/>
            <a:r>
              <a:rPr lang="es-CL" sz="2800" b="1" dirty="0" smtClean="0">
                <a:latin typeface="Calibri" pitchFamily="34" charset="0"/>
              </a:rPr>
              <a:t>Unidad </a:t>
            </a:r>
            <a:r>
              <a:rPr lang="es-CL" sz="2800" b="1" dirty="0">
                <a:latin typeface="Calibri" pitchFamily="34" charset="0"/>
              </a:rPr>
              <a:t>de Aprendizaje </a:t>
            </a:r>
            <a:r>
              <a:rPr lang="es-CL" sz="2800" b="1" dirty="0" smtClean="0">
                <a:latin typeface="Calibri" pitchFamily="34" charset="0"/>
              </a:rPr>
              <a:t>3</a:t>
            </a:r>
            <a:endParaRPr lang="es-CL" sz="2800" dirty="0" smtClean="0">
              <a:solidFill>
                <a:schemeClr val="bg1"/>
              </a:solidFill>
              <a:latin typeface="Calibri" pitchFamily="34" charset="0"/>
            </a:endParaRPr>
          </a:p>
          <a:p>
            <a:pPr algn="ctr"/>
            <a:r>
              <a:rPr lang="es-CL" sz="2800" dirty="0"/>
              <a:t>Programación </a:t>
            </a:r>
            <a:r>
              <a:rPr lang="es-CL" sz="2800" dirty="0" smtClean="0"/>
              <a:t>en </a:t>
            </a:r>
            <a:r>
              <a:rPr lang="es-CL" sz="2800" dirty="0" smtClean="0"/>
              <a:t>Java</a:t>
            </a:r>
          </a:p>
          <a:p>
            <a:pPr algn="ctr"/>
            <a:endParaRPr lang="es-CL" sz="2800" dirty="0">
              <a:latin typeface="Calibri" pitchFamily="34" charset="0"/>
            </a:endParaRPr>
          </a:p>
          <a:p>
            <a:pPr algn="ctr"/>
            <a:r>
              <a:rPr lang="es-CL" sz="2800" b="1" dirty="0" smtClean="0">
                <a:latin typeface="Calibri" pitchFamily="34" charset="0"/>
              </a:rPr>
              <a:t>EA 2:</a:t>
            </a:r>
            <a:r>
              <a:rPr lang="es-CL" sz="2800" dirty="0" smtClean="0">
                <a:latin typeface="Calibri" pitchFamily="34" charset="0"/>
              </a:rPr>
              <a:t> </a:t>
            </a:r>
            <a:r>
              <a:rPr lang="es-CL" sz="2800" b="1" dirty="0" smtClean="0"/>
              <a:t>“POO”</a:t>
            </a:r>
            <a:endParaRPr lang="es-CL" sz="2800" b="1" dirty="0" smtClean="0"/>
          </a:p>
          <a:p>
            <a:pPr algn="ctr"/>
            <a:endParaRPr lang="es-CL" sz="2800" b="1" dirty="0"/>
          </a:p>
          <a:p>
            <a:pPr algn="ctr"/>
            <a:endParaRPr lang="es-CL" sz="2800" dirty="0"/>
          </a:p>
        </p:txBody>
      </p:sp>
    </p:spTree>
    <p:extLst>
      <p:ext uri="{BB962C8B-B14F-4D97-AF65-F5344CB8AC3E}">
        <p14:creationId xmlns:p14="http://schemas.microsoft.com/office/powerpoint/2010/main" val="10893867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endParaRPr lang="es-ES" sz="2400" b="1" i="1" dirty="0" smtClean="0"/>
          </a:p>
          <a:p>
            <a:pPr marL="0" indent="0" algn="just">
              <a:buNone/>
            </a:pPr>
            <a:r>
              <a:rPr lang="es-ES" sz="2400" b="1" i="1" dirty="0" smtClean="0"/>
              <a:t>La </a:t>
            </a:r>
            <a:r>
              <a:rPr lang="es-ES" sz="2400" b="1" i="1" dirty="0"/>
              <a:t>Herencia</a:t>
            </a:r>
            <a:r>
              <a:rPr lang="es-ES" sz="2400" dirty="0"/>
              <a:t> es uno de los 4 pilares de la programación orientada a objetos (</a:t>
            </a:r>
            <a:r>
              <a:rPr lang="es-ES" sz="2400" dirty="0">
                <a:hlinkClick r:id="rId3"/>
              </a:rPr>
              <a:t>POO</a:t>
            </a:r>
            <a:r>
              <a:rPr lang="es-ES" sz="2400" dirty="0"/>
              <a:t>) junto con la </a:t>
            </a:r>
            <a:r>
              <a:rPr lang="es-ES" sz="2400" b="1" i="1" dirty="0"/>
              <a:t>Abstracción</a:t>
            </a:r>
            <a:r>
              <a:rPr lang="es-ES" sz="2400" dirty="0"/>
              <a:t>, </a:t>
            </a:r>
            <a:r>
              <a:rPr lang="es-ES" sz="2400" b="1" i="1" dirty="0"/>
              <a:t>Encapsulación</a:t>
            </a:r>
            <a:r>
              <a:rPr lang="es-ES" sz="2400" dirty="0"/>
              <a:t> y </a:t>
            </a:r>
            <a:r>
              <a:rPr lang="es-ES" sz="2400" b="1" i="1" dirty="0" smtClean="0"/>
              <a:t>Polimorfismo</a:t>
            </a:r>
            <a:r>
              <a:rPr lang="es-ES" sz="2400" dirty="0" smtClean="0"/>
              <a:t>.</a:t>
            </a:r>
          </a:p>
          <a:p>
            <a:pPr marL="0" indent="0" algn="just">
              <a:buNone/>
            </a:pPr>
            <a:endParaRPr lang="es-ES" sz="2400" dirty="0"/>
          </a:p>
          <a:p>
            <a:pPr marL="0" indent="0" algn="just">
              <a:buNone/>
            </a:pPr>
            <a:r>
              <a:rPr lang="es-ES" sz="2400" dirty="0" smtClean="0"/>
              <a:t>Al </a:t>
            </a:r>
            <a:r>
              <a:rPr lang="es-ES" sz="2400" dirty="0"/>
              <a:t>principio cuesta un poco entender estos conceptos característicos del paradigma de la POO porque solemos venir de otro paradigma de programación como el paradigma de la programación estructurada</a:t>
            </a:r>
            <a:endParaRPr lang="es-CL" sz="2400" dirty="0" smtClean="0"/>
          </a:p>
        </p:txBody>
      </p:sp>
      <p:grpSp>
        <p:nvGrpSpPr>
          <p:cNvPr id="7" name="Grupo 6"/>
          <p:cNvGrpSpPr/>
          <p:nvPr/>
        </p:nvGrpSpPr>
        <p:grpSpPr>
          <a:xfrm>
            <a:off x="319482" y="385500"/>
            <a:ext cx="4650629"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n-US" sz="2800" b="1" dirty="0" smtClean="0"/>
                <a:t>La </a:t>
              </a:r>
              <a:r>
                <a:rPr lang="en-US" sz="2800" b="1" dirty="0" err="1" smtClean="0"/>
                <a:t>Herencia</a:t>
              </a:r>
              <a:endParaRPr lang="en-US" sz="2800" b="1" dirty="0"/>
            </a:p>
          </p:txBody>
        </p:sp>
      </p:grpSp>
    </p:spTree>
    <p:extLst>
      <p:ext uri="{BB962C8B-B14F-4D97-AF65-F5344CB8AC3E}">
        <p14:creationId xmlns:p14="http://schemas.microsoft.com/office/powerpoint/2010/main" val="38763606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120277"/>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endParaRPr lang="es-ES" sz="2400" dirty="0"/>
          </a:p>
          <a:p>
            <a:pPr marL="0" indent="0" algn="just">
              <a:buNone/>
            </a:pPr>
            <a:r>
              <a:rPr lang="es-ES" sz="2400" dirty="0" smtClean="0"/>
              <a:t>"</a:t>
            </a:r>
            <a:r>
              <a:rPr lang="es-ES" i="1" dirty="0"/>
              <a:t>La herencia es un mecanismo que permite la definición de una clase a partir de la definición de otra ya existente. La herencia permite compartir automáticamente métodos y datos entre clases, subclases y objetos</a:t>
            </a:r>
            <a:r>
              <a:rPr lang="es-ES" i="1" dirty="0" smtClean="0"/>
              <a:t>.</a:t>
            </a:r>
            <a:r>
              <a:rPr lang="es-ES" sz="2400" dirty="0" smtClean="0"/>
              <a:t>“</a:t>
            </a:r>
          </a:p>
          <a:p>
            <a:pPr marL="0" indent="0" algn="just">
              <a:buNone/>
            </a:pPr>
            <a:endParaRPr lang="es-CL" sz="2400" dirty="0" smtClean="0"/>
          </a:p>
        </p:txBody>
      </p:sp>
      <p:grpSp>
        <p:nvGrpSpPr>
          <p:cNvPr id="7" name="Grupo 6"/>
          <p:cNvGrpSpPr/>
          <p:nvPr/>
        </p:nvGrpSpPr>
        <p:grpSpPr>
          <a:xfrm>
            <a:off x="319482" y="385500"/>
            <a:ext cx="4650629"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n-US" sz="2800" b="1" dirty="0" smtClean="0"/>
                <a:t>La </a:t>
              </a:r>
              <a:r>
                <a:rPr lang="en-US" sz="2800" b="1" dirty="0" err="1" smtClean="0"/>
                <a:t>Herencia</a:t>
              </a:r>
              <a:r>
                <a:rPr lang="en-US" sz="2800" b="1" dirty="0" smtClean="0"/>
                <a:t> - </a:t>
              </a:r>
              <a:r>
                <a:rPr lang="en-US" sz="2800" b="1" dirty="0" err="1" smtClean="0"/>
                <a:t>Definición</a:t>
              </a:r>
              <a:endParaRPr lang="en-US" sz="2800" b="1" dirty="0"/>
            </a:p>
          </p:txBody>
        </p:sp>
      </p:grpSp>
    </p:spTree>
    <p:extLst>
      <p:ext uri="{BB962C8B-B14F-4D97-AF65-F5344CB8AC3E}">
        <p14:creationId xmlns:p14="http://schemas.microsoft.com/office/powerpoint/2010/main" val="22850238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a:t>El ejemplo que proponemos es un caso en el que vamos a simular el comportamiento que tendrían los diferentes integrantes de la selección española de futbol; tanto los Futbolistas como el cuerpo </a:t>
            </a:r>
            <a:r>
              <a:rPr lang="es-ES" sz="2400" dirty="0" smtClean="0"/>
              <a:t>técnico.</a:t>
            </a:r>
          </a:p>
          <a:p>
            <a:pPr marL="0" indent="0" algn="just">
              <a:buNone/>
            </a:pPr>
            <a:endParaRPr lang="es-ES" sz="2400" dirty="0"/>
          </a:p>
          <a:p>
            <a:pPr marL="0" indent="0" algn="just">
              <a:buNone/>
            </a:pPr>
            <a:r>
              <a:rPr lang="es-ES" sz="2400" dirty="0" smtClean="0"/>
              <a:t>Para </a:t>
            </a:r>
            <a:r>
              <a:rPr lang="es-ES" sz="2400" dirty="0"/>
              <a:t>simular este comportamiento vamos a definir tres clases que van a representaran a objetos Futbolista, Entrenador y Masajista. De cada unos de ellos vamos a necesitar algunos datos que reflejaremos en los </a:t>
            </a:r>
            <a:r>
              <a:rPr lang="es-ES" sz="2400" b="1" i="1" dirty="0"/>
              <a:t>atributos</a:t>
            </a:r>
            <a:r>
              <a:rPr lang="es-ES" sz="2400" dirty="0"/>
              <a:t> y una serie de acciones que reflejaremos en sus </a:t>
            </a:r>
            <a:r>
              <a:rPr lang="es-ES" sz="2400" b="1" i="1" dirty="0"/>
              <a:t>métodos</a:t>
            </a:r>
            <a:r>
              <a:rPr lang="es-ES" sz="2400" dirty="0"/>
              <a:t>. Estos atributos y métodos los mostramos en el siguiente diagrama de clases: </a:t>
            </a: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 - Ejemplo a trabajar</a:t>
              </a:r>
              <a:endParaRPr lang="es-CL" sz="2600" b="1" dirty="0"/>
            </a:p>
          </p:txBody>
        </p:sp>
      </p:grpSp>
    </p:spTree>
    <p:extLst>
      <p:ext uri="{BB962C8B-B14F-4D97-AF65-F5344CB8AC3E}">
        <p14:creationId xmlns:p14="http://schemas.microsoft.com/office/powerpoint/2010/main" val="39198257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arcador de contenido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84605" y="1628800"/>
            <a:ext cx="8556755" cy="3769047"/>
          </a:xfrm>
          <a:prstGeom prst="rect">
            <a:avLst/>
          </a:prstGeom>
        </p:spPr>
        <p:style>
          <a:lnRef idx="2">
            <a:schemeClr val="accent1"/>
          </a:lnRef>
          <a:fillRef idx="1">
            <a:schemeClr val="lt1"/>
          </a:fillRef>
          <a:effectRef idx="0">
            <a:schemeClr val="accent1"/>
          </a:effectRef>
          <a:fontRef idx="minor">
            <a:schemeClr val="dk1"/>
          </a:fontRef>
        </p:style>
      </p:pic>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 y el Diagrama de Clases</a:t>
              </a:r>
              <a:endParaRPr lang="en-US" sz="2600" b="1" dirty="0"/>
            </a:p>
          </p:txBody>
        </p:sp>
      </p:grpSp>
    </p:spTree>
    <p:extLst>
      <p:ext uri="{BB962C8B-B14F-4D97-AF65-F5344CB8AC3E}">
        <p14:creationId xmlns:p14="http://schemas.microsoft.com/office/powerpoint/2010/main" val="25628458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a:t>Como se puede observar, vemos que en las tres clases tenemos atributos y métodos que son iguales ya que los tres tienen los atributos </a:t>
            </a:r>
            <a:r>
              <a:rPr lang="es-ES" sz="2400" i="1" dirty="0"/>
              <a:t>id, Nombre, Apellidos y Edad</a:t>
            </a:r>
            <a:r>
              <a:rPr lang="es-ES" sz="2400" dirty="0"/>
              <a:t>; y los tres tienen los métodos de </a:t>
            </a:r>
            <a:r>
              <a:rPr lang="es-ES" sz="2400" i="1" dirty="0"/>
              <a:t>Viajar</a:t>
            </a:r>
            <a:r>
              <a:rPr lang="es-ES" sz="2400" dirty="0"/>
              <a:t> y </a:t>
            </a:r>
            <a:r>
              <a:rPr lang="es-ES" sz="2400" i="1" dirty="0"/>
              <a:t>Concentrarse</a:t>
            </a:r>
            <a:r>
              <a:rPr lang="es-ES" sz="2400" i="1" dirty="0" smtClean="0"/>
              <a:t>:</a:t>
            </a:r>
          </a:p>
          <a:p>
            <a:pPr marL="0" indent="0">
              <a:buNone/>
            </a:pP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 y el Diagrama de Clases</a:t>
              </a:r>
              <a:endParaRPr lang="es-CL" sz="2600" b="1" dirty="0"/>
            </a:p>
          </p:txBody>
        </p:sp>
      </p:gr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840934"/>
            <a:ext cx="7056784" cy="3108346"/>
          </a:xfrm>
          <a:prstGeom prst="rect">
            <a:avLst/>
          </a:prstGeom>
        </p:spPr>
      </p:pic>
    </p:spTree>
    <p:extLst>
      <p:ext uri="{BB962C8B-B14F-4D97-AF65-F5344CB8AC3E}">
        <p14:creationId xmlns:p14="http://schemas.microsoft.com/office/powerpoint/2010/main" val="15199773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a:t>A nivel de código tenemos lo siguiente tras ver el diagrama de clases</a:t>
            </a:r>
            <a:r>
              <a:rPr lang="es-ES" sz="2400" dirty="0" smtClean="0"/>
              <a:t>:</a:t>
            </a:r>
          </a:p>
          <a:p>
            <a:pPr marL="0" indent="0" algn="just">
              <a:buNone/>
            </a:pP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pic>
        <p:nvPicPr>
          <p:cNvPr id="3" name="Imagen 2"/>
          <p:cNvPicPr>
            <a:picLocks noChangeAspect="1"/>
          </p:cNvPicPr>
          <p:nvPr/>
        </p:nvPicPr>
        <p:blipFill>
          <a:blip r:embed="rId3"/>
          <a:stretch>
            <a:fillRect/>
          </a:stretch>
        </p:blipFill>
        <p:spPr>
          <a:xfrm>
            <a:off x="1331640" y="1746473"/>
            <a:ext cx="7105650" cy="4202807"/>
          </a:xfrm>
          <a:prstGeom prst="rect">
            <a:avLst/>
          </a:prstGeom>
        </p:spPr>
      </p:pic>
    </p:spTree>
    <p:extLst>
      <p:ext uri="{BB962C8B-B14F-4D97-AF65-F5344CB8AC3E}">
        <p14:creationId xmlns:p14="http://schemas.microsoft.com/office/powerpoint/2010/main" val="266918633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smtClean="0"/>
              <a:t>Para </a:t>
            </a:r>
            <a:r>
              <a:rPr lang="es-ES" sz="2400" dirty="0"/>
              <a:t>no escribir código de más, </a:t>
            </a:r>
            <a:r>
              <a:rPr lang="es-ES" sz="2400" dirty="0" smtClean="0"/>
              <a:t>lo </a:t>
            </a:r>
            <a:r>
              <a:rPr lang="es-ES" sz="2400" dirty="0"/>
              <a:t>que haremos </a:t>
            </a:r>
            <a:r>
              <a:rPr lang="es-ES" sz="2400" dirty="0" smtClean="0"/>
              <a:t>será </a:t>
            </a:r>
            <a:r>
              <a:rPr lang="es-ES" sz="2400" b="1" i="1" dirty="0" smtClean="0"/>
              <a:t>crear </a:t>
            </a:r>
            <a:r>
              <a:rPr lang="es-ES" sz="2400" b="1" i="1" dirty="0"/>
              <a:t>una clase con el "código que es común a las tres clases" (a esta clase se le denomina en la herencia como "Clase Padre o </a:t>
            </a:r>
            <a:r>
              <a:rPr lang="es-ES" sz="2400" b="1" i="1" dirty="0" err="1"/>
              <a:t>SuperClase</a:t>
            </a:r>
            <a:r>
              <a:rPr lang="es-ES" sz="2400" b="1" i="1" dirty="0"/>
              <a:t>")</a:t>
            </a:r>
            <a:r>
              <a:rPr lang="es-ES" sz="2400" dirty="0"/>
              <a:t> y </a:t>
            </a:r>
            <a:r>
              <a:rPr lang="es-ES" sz="2400" b="1" i="1" dirty="0"/>
              <a:t>el código que es  especifico de cada clase</a:t>
            </a:r>
            <a:r>
              <a:rPr lang="es-ES" sz="2400" dirty="0"/>
              <a:t>, lo dejaremos en </a:t>
            </a:r>
            <a:r>
              <a:rPr lang="es-ES" sz="2400" dirty="0" smtClean="0"/>
              <a:t>ellas, </a:t>
            </a:r>
            <a:r>
              <a:rPr lang="es-ES" sz="2400" dirty="0"/>
              <a:t>siendo </a:t>
            </a:r>
            <a:r>
              <a:rPr lang="es-ES" sz="2400" b="1" i="1" dirty="0"/>
              <a:t>denominadas estas clases como "Clases Hijas",</a:t>
            </a:r>
            <a:r>
              <a:rPr lang="es-ES" sz="2400" dirty="0"/>
              <a:t> las cuales </a:t>
            </a:r>
            <a:r>
              <a:rPr lang="es-ES" sz="2400" b="1" i="1" dirty="0"/>
              <a:t>heredan de la clase padre todos los atributos y métodos públicos o </a:t>
            </a:r>
            <a:r>
              <a:rPr lang="es-ES" sz="2400" b="1" i="1" dirty="0" smtClean="0"/>
              <a:t>protegidos</a:t>
            </a:r>
            <a:r>
              <a:rPr lang="es-ES" sz="2400" dirty="0" smtClean="0"/>
              <a:t>.</a:t>
            </a:r>
          </a:p>
          <a:p>
            <a:pPr marL="0" indent="0" algn="just">
              <a:buNone/>
            </a:pPr>
            <a:endParaRPr lang="es-ES" sz="2400" dirty="0"/>
          </a:p>
          <a:p>
            <a:pPr marL="0" indent="0" algn="just">
              <a:buNone/>
            </a:pPr>
            <a:r>
              <a:rPr lang="es-ES" sz="2400" dirty="0" smtClean="0"/>
              <a:t>Es </a:t>
            </a:r>
            <a:r>
              <a:rPr lang="es-ES" sz="2400" dirty="0"/>
              <a:t>muy importante decir que las clases hijas </a:t>
            </a:r>
            <a:r>
              <a:rPr lang="es-ES" sz="2400" b="1" i="1" dirty="0"/>
              <a:t>no van a heredar nunca los atributos y métodos privados de la clase padre</a:t>
            </a:r>
            <a:r>
              <a:rPr lang="es-ES" sz="2400" dirty="0"/>
              <a:t>, así que mucho cuidado con esto.</a:t>
            </a: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Tree>
    <p:extLst>
      <p:ext uri="{BB962C8B-B14F-4D97-AF65-F5344CB8AC3E}">
        <p14:creationId xmlns:p14="http://schemas.microsoft.com/office/powerpoint/2010/main" val="30158881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pic>
        <p:nvPicPr>
          <p:cNvPr id="11" name="Marcador de contenido 1"/>
          <p:cNvPicPr>
            <a:picLocks noGrp="1" noChangeAspect="1"/>
          </p:cNvPicPr>
          <p:nvPr>
            <p:ph idx="1"/>
          </p:nvPr>
        </p:nvPicPr>
        <p:blipFill>
          <a:blip r:embed="rId3"/>
          <a:stretch>
            <a:fillRect/>
          </a:stretch>
        </p:blipFill>
        <p:spPr>
          <a:xfrm>
            <a:off x="1323268" y="1412776"/>
            <a:ext cx="6129052" cy="4392488"/>
          </a:xfrm>
          <a:prstGeom prst="rect">
            <a:avLst/>
          </a:prstGeom>
        </p:spPr>
      </p:pic>
    </p:spTree>
    <p:extLst>
      <p:ext uri="{BB962C8B-B14F-4D97-AF65-F5344CB8AC3E}">
        <p14:creationId xmlns:p14="http://schemas.microsoft.com/office/powerpoint/2010/main" val="34728041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a:t>A nivel de </a:t>
            </a:r>
            <a:r>
              <a:rPr lang="es-ES" sz="2400" dirty="0" smtClean="0"/>
              <a:t>código:</a:t>
            </a:r>
          </a:p>
          <a:p>
            <a:pPr marL="0" indent="0" algn="just">
              <a:buNone/>
            </a:pP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pic>
        <p:nvPicPr>
          <p:cNvPr id="2" name="Imagen 1"/>
          <p:cNvPicPr>
            <a:picLocks noChangeAspect="1"/>
          </p:cNvPicPr>
          <p:nvPr/>
        </p:nvPicPr>
        <p:blipFill>
          <a:blip r:embed="rId3"/>
          <a:stretch>
            <a:fillRect/>
          </a:stretch>
        </p:blipFill>
        <p:spPr>
          <a:xfrm>
            <a:off x="3303602" y="1399220"/>
            <a:ext cx="2266950" cy="4419600"/>
          </a:xfrm>
          <a:prstGeom prst="rect">
            <a:avLst/>
          </a:prstGeom>
        </p:spPr>
      </p:pic>
    </p:spTree>
    <p:extLst>
      <p:ext uri="{BB962C8B-B14F-4D97-AF65-F5344CB8AC3E}">
        <p14:creationId xmlns:p14="http://schemas.microsoft.com/office/powerpoint/2010/main" val="619186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Grp="1"/>
          </p:cNvSpPr>
          <p:nvPr>
            <p:ph idx="1"/>
          </p:nvPr>
        </p:nvSpPr>
        <p:spPr bwMode="auto">
          <a:xfrm>
            <a:off x="319482" y="1268760"/>
            <a:ext cx="8235190" cy="4680520"/>
          </a:xfrm>
          <a:prstGeom prst="rect">
            <a:avLst/>
          </a:prstGeom>
        </p:spPr>
        <p:style>
          <a:lnRef idx="2">
            <a:schemeClr val="accent1"/>
          </a:lnRef>
          <a:fillRef idx="1">
            <a:schemeClr val="lt1"/>
          </a:fillRef>
          <a:effectRef idx="0">
            <a:schemeClr val="accent1"/>
          </a:effectRef>
          <a:fontRef idx="minor">
            <a:schemeClr val="dk1"/>
          </a:fontRef>
        </p:style>
        <p:txBody>
          <a:bodyPr vert="horz" rtlCol="0">
            <a:noAutofit/>
          </a:bodyPr>
          <a:lstStyle/>
          <a:p>
            <a:pPr marL="0" indent="0" algn="just">
              <a:buNone/>
            </a:pPr>
            <a:r>
              <a:rPr lang="es-ES" sz="2400" dirty="0"/>
              <a:t>A nivel de </a:t>
            </a:r>
            <a:r>
              <a:rPr lang="es-ES" sz="2400" dirty="0" smtClean="0"/>
              <a:t>código:</a:t>
            </a:r>
          </a:p>
          <a:p>
            <a:pPr marL="0" indent="0" algn="just">
              <a:buNone/>
            </a:pPr>
            <a:endParaRPr lang="en-US" sz="2400" dirty="0"/>
          </a:p>
        </p:txBody>
      </p:sp>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pic>
        <p:nvPicPr>
          <p:cNvPr id="3" name="Imagen 2"/>
          <p:cNvPicPr>
            <a:picLocks noChangeAspect="1"/>
          </p:cNvPicPr>
          <p:nvPr/>
        </p:nvPicPr>
        <p:blipFill>
          <a:blip r:embed="rId3"/>
          <a:stretch>
            <a:fillRect/>
          </a:stretch>
        </p:blipFill>
        <p:spPr>
          <a:xfrm>
            <a:off x="1331640" y="1866875"/>
            <a:ext cx="6730282" cy="4061073"/>
          </a:xfrm>
          <a:prstGeom prst="rect">
            <a:avLst/>
          </a:prstGeom>
        </p:spPr>
      </p:pic>
    </p:spTree>
    <p:extLst>
      <p:ext uri="{BB962C8B-B14F-4D97-AF65-F5344CB8AC3E}">
        <p14:creationId xmlns:p14="http://schemas.microsoft.com/office/powerpoint/2010/main" val="34508026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Marcador de contenido 1"/>
          <p:cNvSpPr>
            <a:spLocks noGrp="1"/>
          </p:cNvSpPr>
          <p:nvPr>
            <p:ph idx="1"/>
          </p:nvPr>
        </p:nvSpPr>
        <p:spPr>
          <a:xfrm>
            <a:off x="302840" y="1412776"/>
            <a:ext cx="8229600" cy="4525963"/>
          </a:xfrm>
        </p:spPr>
        <p:txBody>
          <a:bodyPr/>
          <a:lstStyle/>
          <a:p>
            <a:pPr algn="just"/>
            <a:r>
              <a:rPr lang="es-ES" sz="2400" b="1" i="1" u="sng" dirty="0" err="1"/>
              <a:t>extends</a:t>
            </a:r>
            <a:r>
              <a:rPr lang="es-ES" sz="2400" dirty="0"/>
              <a:t>: Esta palabra reservada, indica a la clase hija cual va a ser su clase padre, es decir que por ejemplo en la clase Futbolista al poner "</a:t>
            </a:r>
            <a:r>
              <a:rPr lang="es-ES" sz="2400" i="1" dirty="0" err="1"/>
              <a:t>public</a:t>
            </a:r>
            <a:r>
              <a:rPr lang="es-ES" sz="2400" i="1" dirty="0"/>
              <a:t> </a:t>
            </a:r>
            <a:r>
              <a:rPr lang="es-ES" sz="2400" i="1" dirty="0" err="1"/>
              <a:t>class</a:t>
            </a:r>
            <a:r>
              <a:rPr lang="es-ES" sz="2400" i="1" dirty="0"/>
              <a:t> Futbolista </a:t>
            </a:r>
            <a:r>
              <a:rPr lang="es-ES" sz="2400" i="1" dirty="0" err="1"/>
              <a:t>extends</a:t>
            </a:r>
            <a:r>
              <a:rPr lang="es-ES" sz="2400" i="1" dirty="0"/>
              <a:t> </a:t>
            </a:r>
            <a:r>
              <a:rPr lang="es-ES" sz="2400" i="1" dirty="0" err="1"/>
              <a:t>SeleccionFutbol</a:t>
            </a:r>
            <a:r>
              <a:rPr lang="es-ES" sz="2400" dirty="0"/>
              <a:t>" le estamos indicando a la clase 'Futbolista' que su clase padre es la clase '</a:t>
            </a:r>
            <a:r>
              <a:rPr lang="es-ES" sz="2400" dirty="0" err="1"/>
              <a:t>SeleccionFutbol</a:t>
            </a:r>
            <a:r>
              <a:rPr lang="es-ES" sz="2400" dirty="0"/>
              <a:t>' o dicho de otra manera para que se entienda mejor, al poner esto estamos haciendo un "</a:t>
            </a:r>
            <a:r>
              <a:rPr lang="es-ES" sz="2400" b="1" i="1" dirty="0" err="1"/>
              <a:t>copy</a:t>
            </a:r>
            <a:r>
              <a:rPr lang="es-ES" sz="2400" b="1" i="1" dirty="0"/>
              <a:t>-paste dinámico</a:t>
            </a:r>
            <a:r>
              <a:rPr lang="es-ES" sz="2400" dirty="0"/>
              <a:t>" diciendo a la clase 'Futbolista' que se 'copie' todos los atributos y métodos públicos o protegidos de la clase '</a:t>
            </a:r>
            <a:r>
              <a:rPr lang="es-ES" sz="2400" dirty="0" err="1"/>
              <a:t>SeleccionFutbol</a:t>
            </a:r>
            <a:r>
              <a:rPr lang="es-ES" sz="2400" dirty="0"/>
              <a:t>'. De aquí viene esa 'definición' que dimos de que la herencia en un '</a:t>
            </a:r>
            <a:r>
              <a:rPr lang="es-ES" sz="2400" dirty="0" err="1"/>
              <a:t>copy</a:t>
            </a:r>
            <a:r>
              <a:rPr lang="es-ES" sz="2400" dirty="0"/>
              <a:t>-paste dinámico'.</a:t>
            </a:r>
          </a:p>
        </p:txBody>
      </p:sp>
    </p:spTree>
    <p:extLst>
      <p:ext uri="{BB962C8B-B14F-4D97-AF65-F5344CB8AC3E}">
        <p14:creationId xmlns:p14="http://schemas.microsoft.com/office/powerpoint/2010/main" val="37148627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Marcador de contenido 1"/>
          <p:cNvSpPr>
            <a:spLocks noGrp="1"/>
          </p:cNvSpPr>
          <p:nvPr>
            <p:ph idx="1"/>
          </p:nvPr>
        </p:nvSpPr>
        <p:spPr>
          <a:xfrm>
            <a:off x="323528" y="1412776"/>
            <a:ext cx="8229600" cy="4525963"/>
          </a:xfrm>
        </p:spPr>
        <p:txBody>
          <a:bodyPr/>
          <a:lstStyle/>
          <a:p>
            <a:r>
              <a:rPr lang="es-ES" sz="2400" b="1" i="1" u="sng" dirty="0" err="1"/>
              <a:t>protected</a:t>
            </a:r>
            <a:r>
              <a:rPr lang="es-ES" sz="2400" dirty="0"/>
              <a:t>:  sirve para indicar un tipo de visibilidad de los atributos y métodos de la clase padre y significa que cuando un atributo es '</a:t>
            </a:r>
            <a:r>
              <a:rPr lang="es-ES" sz="2400" dirty="0" err="1"/>
              <a:t>protected</a:t>
            </a:r>
            <a:r>
              <a:rPr lang="es-ES" sz="2400" dirty="0"/>
              <a:t>' o protegido, solo es visible ese atributo o método desde una de las clases hijas y no desde otra clase.</a:t>
            </a:r>
          </a:p>
        </p:txBody>
      </p:sp>
    </p:spTree>
    <p:extLst>
      <p:ext uri="{BB962C8B-B14F-4D97-AF65-F5344CB8AC3E}">
        <p14:creationId xmlns:p14="http://schemas.microsoft.com/office/powerpoint/2010/main" val="20346483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Marcador de contenido 1"/>
          <p:cNvSpPr>
            <a:spLocks noGrp="1"/>
          </p:cNvSpPr>
          <p:nvPr>
            <p:ph idx="1"/>
          </p:nvPr>
        </p:nvSpPr>
        <p:spPr>
          <a:xfrm>
            <a:off x="323528" y="1412776"/>
            <a:ext cx="8229600" cy="4525963"/>
          </a:xfrm>
        </p:spPr>
        <p:txBody>
          <a:bodyPr/>
          <a:lstStyle/>
          <a:p>
            <a:r>
              <a:rPr lang="es-ES" sz="2400" b="1" i="1" u="sng" dirty="0" err="1"/>
              <a:t>super</a:t>
            </a:r>
            <a:r>
              <a:rPr lang="es-ES" sz="2400" dirty="0"/>
              <a:t>: sirve para llamar al constructor de la clase padre. Quizás en el código que hemos puesto no se ha visto muy bien, pero a continuación lo mostramos de formas más clara, viendo el constructor de los objetos pasándole los atributos:</a:t>
            </a:r>
          </a:p>
        </p:txBody>
      </p:sp>
    </p:spTree>
    <p:extLst>
      <p:ext uri="{BB962C8B-B14F-4D97-AF65-F5344CB8AC3E}">
        <p14:creationId xmlns:p14="http://schemas.microsoft.com/office/powerpoint/2010/main" val="21462149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pic>
        <p:nvPicPr>
          <p:cNvPr id="3" name="Marcador de contenido 2"/>
          <p:cNvPicPr>
            <a:picLocks noGrp="1" noChangeAspect="1"/>
          </p:cNvPicPr>
          <p:nvPr>
            <p:ph idx="1"/>
          </p:nvPr>
        </p:nvPicPr>
        <p:blipFill>
          <a:blip r:embed="rId3"/>
          <a:stretch>
            <a:fillRect/>
          </a:stretch>
        </p:blipFill>
        <p:spPr>
          <a:xfrm>
            <a:off x="395536" y="1577211"/>
            <a:ext cx="8159136" cy="4156045"/>
          </a:xfrm>
          <a:prstGeom prst="rect">
            <a:avLst/>
          </a:prstGeom>
        </p:spPr>
      </p:pic>
    </p:spTree>
    <p:extLst>
      <p:ext uri="{BB962C8B-B14F-4D97-AF65-F5344CB8AC3E}">
        <p14:creationId xmlns:p14="http://schemas.microsoft.com/office/powerpoint/2010/main" val="6225551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pic>
        <p:nvPicPr>
          <p:cNvPr id="4" name="Imagen 3"/>
          <p:cNvPicPr>
            <a:picLocks noChangeAspect="1"/>
          </p:cNvPicPr>
          <p:nvPr/>
        </p:nvPicPr>
        <p:blipFill>
          <a:blip r:embed="rId3"/>
          <a:stretch>
            <a:fillRect/>
          </a:stretch>
        </p:blipFill>
        <p:spPr>
          <a:xfrm>
            <a:off x="395536" y="1556792"/>
            <a:ext cx="8159136" cy="4176464"/>
          </a:xfrm>
          <a:prstGeom prst="rect">
            <a:avLst/>
          </a:prstGeom>
        </p:spPr>
      </p:pic>
    </p:spTree>
    <p:extLst>
      <p:ext uri="{BB962C8B-B14F-4D97-AF65-F5344CB8AC3E}">
        <p14:creationId xmlns:p14="http://schemas.microsoft.com/office/powerpoint/2010/main" val="31995712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268760"/>
            <a:ext cx="8212857" cy="2308324"/>
          </a:xfrm>
          <a:prstGeom prst="rect">
            <a:avLst/>
          </a:prstGeom>
        </p:spPr>
        <p:txBody>
          <a:bodyPr wrap="square">
            <a:spAutoFit/>
          </a:bodyPr>
          <a:lstStyle/>
          <a:p>
            <a:r>
              <a:rPr lang="es-ES" sz="2400" dirty="0"/>
              <a:t>Hasta aquí todo correcto, pero ahora vamos a ver como trabajamos con estas clases. Para ver este funcionamiento de forma clara y sencilla vamos a trabajar con un objeto de cada clase y vamos a ver como se crean y de que forma ejecutan sus método. Para ello empecemos mostrando el siguiente fragmento de código: </a:t>
            </a:r>
          </a:p>
        </p:txBody>
      </p:sp>
    </p:spTree>
    <p:extLst>
      <p:ext uri="{BB962C8B-B14F-4D97-AF65-F5344CB8AC3E}">
        <p14:creationId xmlns:p14="http://schemas.microsoft.com/office/powerpoint/2010/main" val="23048555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pic>
        <p:nvPicPr>
          <p:cNvPr id="3" name="Imagen 2"/>
          <p:cNvPicPr>
            <a:picLocks noChangeAspect="1"/>
          </p:cNvPicPr>
          <p:nvPr/>
        </p:nvPicPr>
        <p:blipFill>
          <a:blip r:embed="rId3"/>
          <a:stretch>
            <a:fillRect/>
          </a:stretch>
        </p:blipFill>
        <p:spPr>
          <a:xfrm>
            <a:off x="765860" y="1340768"/>
            <a:ext cx="7190516" cy="4531010"/>
          </a:xfrm>
          <a:prstGeom prst="rect">
            <a:avLst/>
          </a:prstGeom>
        </p:spPr>
      </p:pic>
    </p:spTree>
    <p:extLst>
      <p:ext uri="{BB962C8B-B14F-4D97-AF65-F5344CB8AC3E}">
        <p14:creationId xmlns:p14="http://schemas.microsoft.com/office/powerpoint/2010/main" val="30836455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587564"/>
            <a:ext cx="8212857" cy="3785652"/>
          </a:xfrm>
          <a:prstGeom prst="rect">
            <a:avLst/>
          </a:prstGeom>
        </p:spPr>
        <p:txBody>
          <a:bodyPr wrap="square">
            <a:spAutoFit/>
          </a:bodyPr>
          <a:lstStyle/>
          <a:p>
            <a:pPr algn="just"/>
            <a:r>
              <a:rPr lang="es-ES" sz="2400" dirty="0"/>
              <a:t>Lo primero que vemos es que </a:t>
            </a:r>
            <a:r>
              <a:rPr lang="es-ES" sz="2400" dirty="0" smtClean="0"/>
              <a:t>creamos </a:t>
            </a:r>
            <a:r>
              <a:rPr lang="es-ES" sz="2400" dirty="0"/>
              <a:t>un objeto de cada clase, pasándole los atributos al constructor como parámetro y después "sorprendentemente" </a:t>
            </a:r>
            <a:r>
              <a:rPr lang="es-ES" sz="2400" b="1" i="1" dirty="0"/>
              <a:t>los metemos en un "</a:t>
            </a:r>
            <a:r>
              <a:rPr lang="es-ES" sz="2400" b="1" i="1" dirty="0" err="1">
                <a:hlinkClick r:id="rId3"/>
              </a:rPr>
              <a:t>ArrayList</a:t>
            </a:r>
            <a:r>
              <a:rPr lang="es-ES" sz="2400" b="1" i="1" dirty="0"/>
              <a:t>" de objetos de la clase "</a:t>
            </a:r>
            <a:r>
              <a:rPr lang="es-ES" sz="2400" b="1" i="1" dirty="0" err="1"/>
              <a:t>SeleccionFutbol</a:t>
            </a:r>
            <a:r>
              <a:rPr lang="es-ES" sz="2400" b="1" i="1" dirty="0"/>
              <a:t>"</a:t>
            </a:r>
            <a:r>
              <a:rPr lang="es-ES" sz="2400" dirty="0"/>
              <a:t> que es la clase padre. </a:t>
            </a:r>
            <a:endParaRPr lang="es-ES" sz="2400" dirty="0" smtClean="0"/>
          </a:p>
          <a:p>
            <a:pPr algn="just"/>
            <a:endParaRPr lang="es-ES" sz="2400" dirty="0"/>
          </a:p>
          <a:p>
            <a:pPr algn="just"/>
            <a:r>
              <a:rPr lang="es-ES" sz="2400" dirty="0" smtClean="0"/>
              <a:t>Esto </a:t>
            </a:r>
            <a:r>
              <a:rPr lang="es-ES" sz="2400" dirty="0"/>
              <a:t>evidentemente te lo permite hacer ya que todos los objetos son hijos de la misma clase padre. Luego como veis, recorremos el </a:t>
            </a:r>
            <a:r>
              <a:rPr lang="es-ES" sz="2400" dirty="0" err="1"/>
              <a:t>ArrayList</a:t>
            </a:r>
            <a:r>
              <a:rPr lang="es-ES" sz="2400" dirty="0"/>
              <a:t> y ejecutamos sus métodos "comunes" como son el 'Concentrarse' y el 'Viajar'. Este código da como salida lo siguiente: </a:t>
            </a:r>
          </a:p>
        </p:txBody>
      </p:sp>
    </p:spTree>
    <p:extLst>
      <p:ext uri="{BB962C8B-B14F-4D97-AF65-F5344CB8AC3E}">
        <p14:creationId xmlns:p14="http://schemas.microsoft.com/office/powerpoint/2010/main" val="416892603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268760"/>
            <a:ext cx="8212857" cy="461665"/>
          </a:xfrm>
          <a:prstGeom prst="rect">
            <a:avLst/>
          </a:prstGeom>
        </p:spPr>
        <p:txBody>
          <a:bodyPr wrap="square">
            <a:spAutoFit/>
          </a:bodyPr>
          <a:lstStyle/>
          <a:p>
            <a:pPr algn="just"/>
            <a:endParaRPr lang="es-ES" sz="2400" dirty="0"/>
          </a:p>
        </p:txBody>
      </p:sp>
      <p:pic>
        <p:nvPicPr>
          <p:cNvPr id="3" name="Imagen 2"/>
          <p:cNvPicPr>
            <a:picLocks noChangeAspect="1"/>
          </p:cNvPicPr>
          <p:nvPr/>
        </p:nvPicPr>
        <p:blipFill>
          <a:blip r:embed="rId3"/>
          <a:stretch>
            <a:fillRect/>
          </a:stretch>
        </p:blipFill>
        <p:spPr>
          <a:xfrm>
            <a:off x="445070" y="1484784"/>
            <a:ext cx="8015362" cy="4248472"/>
          </a:xfrm>
          <a:prstGeom prst="rect">
            <a:avLst/>
          </a:prstGeom>
        </p:spPr>
      </p:pic>
    </p:spTree>
    <p:extLst>
      <p:ext uri="{BB962C8B-B14F-4D97-AF65-F5344CB8AC3E}">
        <p14:creationId xmlns:p14="http://schemas.microsoft.com/office/powerpoint/2010/main" val="304125295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268760"/>
            <a:ext cx="8212857" cy="461665"/>
          </a:xfrm>
          <a:prstGeom prst="rect">
            <a:avLst/>
          </a:prstGeom>
        </p:spPr>
        <p:txBody>
          <a:bodyPr wrap="square">
            <a:spAutoFit/>
          </a:bodyPr>
          <a:lstStyle/>
          <a:p>
            <a:pPr algn="just"/>
            <a:endParaRPr lang="es-ES" sz="2400" dirty="0"/>
          </a:p>
        </p:txBody>
      </p:sp>
      <p:pic>
        <p:nvPicPr>
          <p:cNvPr id="4" name="Imagen 3"/>
          <p:cNvPicPr>
            <a:picLocks noChangeAspect="1"/>
          </p:cNvPicPr>
          <p:nvPr/>
        </p:nvPicPr>
        <p:blipFill>
          <a:blip r:embed="rId3"/>
          <a:stretch>
            <a:fillRect/>
          </a:stretch>
        </p:blipFill>
        <p:spPr>
          <a:xfrm>
            <a:off x="341815" y="1379648"/>
            <a:ext cx="8212857" cy="4425616"/>
          </a:xfrm>
          <a:prstGeom prst="rect">
            <a:avLst/>
          </a:prstGeom>
        </p:spPr>
      </p:pic>
    </p:spTree>
    <p:extLst>
      <p:ext uri="{BB962C8B-B14F-4D97-AF65-F5344CB8AC3E}">
        <p14:creationId xmlns:p14="http://schemas.microsoft.com/office/powerpoint/2010/main" val="1271221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268760"/>
            <a:ext cx="8212857" cy="461665"/>
          </a:xfrm>
          <a:prstGeom prst="rect">
            <a:avLst/>
          </a:prstGeom>
        </p:spPr>
        <p:txBody>
          <a:bodyPr wrap="square">
            <a:spAutoFit/>
          </a:bodyPr>
          <a:lstStyle/>
          <a:p>
            <a:pPr algn="just"/>
            <a:endParaRPr lang="es-ES" sz="2400" dirty="0"/>
          </a:p>
        </p:txBody>
      </p:sp>
      <p:sp>
        <p:nvSpPr>
          <p:cNvPr id="3" name="Rectángulo 2"/>
          <p:cNvSpPr/>
          <p:nvPr/>
        </p:nvSpPr>
        <p:spPr>
          <a:xfrm>
            <a:off x="341815" y="1412776"/>
            <a:ext cx="8212857" cy="4524315"/>
          </a:xfrm>
          <a:prstGeom prst="rect">
            <a:avLst/>
          </a:prstGeom>
        </p:spPr>
        <p:txBody>
          <a:bodyPr wrap="square">
            <a:spAutoFit/>
          </a:bodyPr>
          <a:lstStyle/>
          <a:p>
            <a:pPr algn="just"/>
            <a:r>
              <a:rPr lang="es-ES" sz="2400" dirty="0"/>
              <a:t>Como vemos aunque el entrenador y los futbolistas asistan a un entrenamiento, los dos hacen una función diferente en el </a:t>
            </a:r>
            <a:r>
              <a:rPr lang="es-ES" sz="2400" dirty="0" smtClean="0"/>
              <a:t>mismo.</a:t>
            </a:r>
          </a:p>
          <a:p>
            <a:pPr algn="just"/>
            <a:endParaRPr lang="es-ES" sz="2400" dirty="0"/>
          </a:p>
          <a:p>
            <a:pPr algn="just"/>
            <a:r>
              <a:rPr lang="es-ES" sz="2400" dirty="0" smtClean="0"/>
              <a:t>Por </a:t>
            </a:r>
            <a:r>
              <a:rPr lang="es-ES" sz="2400" dirty="0"/>
              <a:t>tanto hay que hacer métodos diferente para cada una de las </a:t>
            </a:r>
            <a:r>
              <a:rPr lang="es-ES" sz="2400" dirty="0" smtClean="0"/>
              <a:t>clases.</a:t>
            </a:r>
          </a:p>
          <a:p>
            <a:pPr algn="just"/>
            <a:endParaRPr lang="es-ES" sz="2400" dirty="0"/>
          </a:p>
          <a:p>
            <a:pPr algn="just"/>
            <a:r>
              <a:rPr lang="es-ES" sz="2400" dirty="0" smtClean="0"/>
              <a:t>Ya </a:t>
            </a:r>
            <a:r>
              <a:rPr lang="es-ES" sz="2400" dirty="0"/>
              <a:t>veremos cuando hablemos del polimorfismo que podremos ejecutar el mismo método para clases diferentes y que esos métodos hagan cosas </a:t>
            </a:r>
            <a:r>
              <a:rPr lang="es-ES" sz="2400" dirty="0" smtClean="0"/>
              <a:t>distintas.</a:t>
            </a:r>
          </a:p>
          <a:p>
            <a:pPr algn="just"/>
            <a:endParaRPr lang="es-ES" sz="2400" dirty="0"/>
          </a:p>
          <a:p>
            <a:pPr algn="just"/>
            <a:r>
              <a:rPr lang="es-ES" sz="2400" dirty="0" smtClean="0"/>
              <a:t>Como </a:t>
            </a:r>
            <a:r>
              <a:rPr lang="es-ES" sz="2400" dirty="0"/>
              <a:t>resultado al código mostrado tenemos lo siguiente:</a:t>
            </a:r>
          </a:p>
        </p:txBody>
      </p:sp>
    </p:spTree>
    <p:extLst>
      <p:ext uri="{BB962C8B-B14F-4D97-AF65-F5344CB8AC3E}">
        <p14:creationId xmlns:p14="http://schemas.microsoft.com/office/powerpoint/2010/main" val="147440842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302549" y="385500"/>
            <a:ext cx="7149771" cy="523220"/>
            <a:chOff x="4542" y="0"/>
            <a:chExt cx="4650629" cy="523220"/>
          </a:xfrm>
        </p:grpSpPr>
        <p:sp>
          <p:nvSpPr>
            <p:cNvPr id="8" name="Rectángulo redondeado 7"/>
            <p:cNvSpPr/>
            <p:nvPr/>
          </p:nvSpPr>
          <p:spPr>
            <a:xfrm>
              <a:off x="4542" y="0"/>
              <a:ext cx="4650629" cy="52322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9" name="Rectángulo 8"/>
            <p:cNvSpPr/>
            <p:nvPr/>
          </p:nvSpPr>
          <p:spPr>
            <a:xfrm>
              <a:off x="30083" y="25541"/>
              <a:ext cx="4599547" cy="4721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49530" rIns="99060" bIns="49530" numCol="1" spcCol="1270" anchor="ctr" anchorCtr="0">
              <a:noAutofit/>
            </a:bodyPr>
            <a:lstStyle/>
            <a:p>
              <a:pPr defTabSz="1155700">
                <a:lnSpc>
                  <a:spcPct val="90000"/>
                </a:lnSpc>
                <a:spcBef>
                  <a:spcPct val="0"/>
                </a:spcBef>
                <a:spcAft>
                  <a:spcPct val="35000"/>
                </a:spcAft>
              </a:pPr>
              <a:r>
                <a:rPr lang="es-CL" sz="2600" b="1" dirty="0" smtClean="0"/>
                <a:t>La Herencia</a:t>
              </a:r>
              <a:endParaRPr lang="es-CL" sz="2600" b="1" dirty="0"/>
            </a:p>
          </p:txBody>
        </p:sp>
      </p:grpSp>
      <p:sp>
        <p:nvSpPr>
          <p:cNvPr id="10" name="Rectangle 3"/>
          <p:cNvSpPr txBox="1">
            <a:spLocks/>
          </p:cNvSpPr>
          <p:nvPr/>
        </p:nvSpPr>
        <p:spPr bwMode="auto">
          <a:xfrm>
            <a:off x="319482" y="1268760"/>
            <a:ext cx="8235190" cy="46805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defTabSz="457200" rtl="0" eaLnBrk="1" fontAlgn="base" hangingPunct="1">
              <a:spcBef>
                <a:spcPct val="20000"/>
              </a:spcBef>
              <a:spcAft>
                <a:spcPct val="0"/>
              </a:spcAft>
              <a:buFont typeface="Arial" charset="0"/>
              <a:buChar char="•"/>
              <a:defRPr sz="3200" kern="1200">
                <a:solidFill>
                  <a:schemeClr val="dk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dk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dk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lgn="just">
              <a:buFont typeface="Arial" charset="0"/>
              <a:buNone/>
            </a:pPr>
            <a:endParaRPr lang="en-US" sz="2400" dirty="0"/>
          </a:p>
        </p:txBody>
      </p:sp>
      <p:sp>
        <p:nvSpPr>
          <p:cNvPr id="2" name="Rectángulo 1"/>
          <p:cNvSpPr/>
          <p:nvPr/>
        </p:nvSpPr>
        <p:spPr>
          <a:xfrm>
            <a:off x="341815" y="1268760"/>
            <a:ext cx="8212857" cy="461665"/>
          </a:xfrm>
          <a:prstGeom prst="rect">
            <a:avLst/>
          </a:prstGeom>
        </p:spPr>
        <p:txBody>
          <a:bodyPr wrap="square">
            <a:spAutoFit/>
          </a:bodyPr>
          <a:lstStyle/>
          <a:p>
            <a:pPr algn="just"/>
            <a:endParaRPr lang="es-ES" sz="2400" dirty="0"/>
          </a:p>
        </p:txBody>
      </p:sp>
      <p:pic>
        <p:nvPicPr>
          <p:cNvPr id="4" name="Imagen 3"/>
          <p:cNvPicPr>
            <a:picLocks noChangeAspect="1"/>
          </p:cNvPicPr>
          <p:nvPr/>
        </p:nvPicPr>
        <p:blipFill>
          <a:blip r:embed="rId3"/>
          <a:stretch>
            <a:fillRect/>
          </a:stretch>
        </p:blipFill>
        <p:spPr>
          <a:xfrm>
            <a:off x="454049" y="1340768"/>
            <a:ext cx="7988387" cy="4536503"/>
          </a:xfrm>
          <a:prstGeom prst="rect">
            <a:avLst/>
          </a:prstGeom>
        </p:spPr>
      </p:pic>
    </p:spTree>
    <p:extLst>
      <p:ext uri="{BB962C8B-B14F-4D97-AF65-F5344CB8AC3E}">
        <p14:creationId xmlns:p14="http://schemas.microsoft.com/office/powerpoint/2010/main" val="211197523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uocUC 20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 DuocUC 2012</Template>
  <TotalTime>118446</TotalTime>
  <Words>2504</Words>
  <Application>Microsoft Office PowerPoint</Application>
  <PresentationFormat>Presentación en pantalla (4:3)</PresentationFormat>
  <Paragraphs>251</Paragraphs>
  <Slides>56</Slides>
  <Notes>52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56</vt:i4>
      </vt:variant>
    </vt:vector>
  </HeadingPairs>
  <TitlesOfParts>
    <vt:vector size="61" baseType="lpstr">
      <vt:lpstr>MS PGothic</vt:lpstr>
      <vt:lpstr>Arial</vt:lpstr>
      <vt:lpstr>Calibri</vt:lpstr>
      <vt:lpstr>Times New Roman</vt:lpstr>
      <vt:lpstr>Tema DuocUC 2012</vt:lpstr>
      <vt:lpstr>Curso Desarrollo de Software Unidad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Andres Alberto U.</dc:creator>
  <cp:lastModifiedBy>Benjamin Sebastian Valladares Lobos</cp:lastModifiedBy>
  <cp:revision>610</cp:revision>
  <dcterms:created xsi:type="dcterms:W3CDTF">2013-06-28T16:52:03Z</dcterms:created>
  <dcterms:modified xsi:type="dcterms:W3CDTF">2017-10-30T03:41:57Z</dcterms:modified>
</cp:coreProperties>
</file>